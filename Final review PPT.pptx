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10.jpg" ContentType="image/jpeg"/>
  <Override PartName="/ppt/media/image11.jpg" ContentType="image/jpeg"/>
  <Override PartName="/ppt/media/image12.jpg" ContentType="image/jpeg"/>
  <Override PartName="/ppt/media/image13.jpg" ContentType="image/jpe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71" r:id="rId4"/>
    <p:sldId id="259" r:id="rId5"/>
    <p:sldId id="286" r:id="rId6"/>
    <p:sldId id="260" r:id="rId7"/>
    <p:sldId id="261" r:id="rId8"/>
    <p:sldId id="272" r:id="rId9"/>
    <p:sldId id="262" r:id="rId10"/>
    <p:sldId id="257" r:id="rId11"/>
    <p:sldId id="263" r:id="rId12"/>
    <p:sldId id="278" r:id="rId13"/>
    <p:sldId id="264" r:id="rId14"/>
    <p:sldId id="265" r:id="rId15"/>
    <p:sldId id="275" r:id="rId16"/>
    <p:sldId id="276" r:id="rId17"/>
    <p:sldId id="277" r:id="rId18"/>
    <p:sldId id="269" r:id="rId19"/>
    <p:sldId id="268" r:id="rId20"/>
    <p:sldId id="281" r:id="rId21"/>
    <p:sldId id="280" r:id="rId22"/>
    <p:sldId id="288" r:id="rId23"/>
    <p:sldId id="267" r:id="rId24"/>
    <p:sldId id="270" r:id="rId25"/>
    <p:sldId id="284" r:id="rId26"/>
    <p:sldId id="266" r:id="rId27"/>
  </p:sldIdLst>
  <p:sldSz cx="18288000" cy="10287000"/>
  <p:notesSz cx="6858000" cy="9144000"/>
  <p:embeddedFontLst>
    <p:embeddedFont>
      <p:font typeface="Amiko" panose="020B0604020202020204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1056" y="35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g"/><Relationship Id="rId5" Type="http://schemas.openxmlformats.org/officeDocument/2006/relationships/image" Target="../media/image9.png"/><Relationship Id="rId4" Type="http://schemas.openxmlformats.org/officeDocument/2006/relationships/image" Target="../media/image3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4" Type="http://schemas.openxmlformats.org/officeDocument/2006/relationships/image" Target="../media/image3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jpg"/><Relationship Id="rId4" Type="http://schemas.openxmlformats.org/officeDocument/2006/relationships/image" Target="../media/image3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583365" y="6257806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3265860" y="-1023938"/>
            <a:ext cx="9895260" cy="5938838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749240">
            <a:off x="14107833" y="8613248"/>
            <a:ext cx="2252125" cy="1126062"/>
          </a:xfrm>
          <a:custGeom>
            <a:avLst/>
            <a:gdLst/>
            <a:ahLst/>
            <a:cxnLst/>
            <a:rect l="l" t="t" r="r" b="b"/>
            <a:pathLst>
              <a:path w="2252125" h="1126062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749240" flipV="1">
            <a:off x="1905275" y="650043"/>
            <a:ext cx="2128989" cy="1064495"/>
          </a:xfrm>
          <a:custGeom>
            <a:avLst/>
            <a:gdLst/>
            <a:ahLst/>
            <a:cxnLst/>
            <a:rect l="l" t="t" r="r" b="b"/>
            <a:pathLst>
              <a:path w="2128989" h="1064495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491586" y="8853488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869488" y="-983397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82A83B-4EA8-83FF-FFE5-F4542A5F94AB}"/>
              </a:ext>
            </a:extLst>
          </p:cNvPr>
          <p:cNvSpPr txBox="1"/>
          <p:nvPr/>
        </p:nvSpPr>
        <p:spPr>
          <a:xfrm>
            <a:off x="6796177" y="858484"/>
            <a:ext cx="114918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MOUNT ZION COLLEGE OF ENGINEERING AND TECHNOLOGY PUDUKKOTTAI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29E0B87-F979-64C8-5ECD-2FD8A318FB4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5049" y="232680"/>
            <a:ext cx="2247766" cy="196679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3F8ABD2-2945-9538-1DA6-BE1FB5B89B18}"/>
              </a:ext>
            </a:extLst>
          </p:cNvPr>
          <p:cNvSpPr txBox="1"/>
          <p:nvPr/>
        </p:nvSpPr>
        <p:spPr>
          <a:xfrm>
            <a:off x="1268399" y="3717385"/>
            <a:ext cx="1519270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AI-POWERED E-COMMERCE CHATBOT USING NLP</a:t>
            </a:r>
            <a:endParaRPr lang="en-IN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AND SEMANTIC SEARCH</a:t>
            </a:r>
            <a:endParaRPr lang="en-IN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/>
              <a:t> </a:t>
            </a:r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C327F5-523F-93A8-15F3-43E658DB6CCC}"/>
              </a:ext>
            </a:extLst>
          </p:cNvPr>
          <p:cNvSpPr txBox="1"/>
          <p:nvPr/>
        </p:nvSpPr>
        <p:spPr>
          <a:xfrm>
            <a:off x="8691573" y="5939376"/>
            <a:ext cx="807146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TEAM MEMBERS</a:t>
            </a:r>
          </a:p>
          <a:p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JASMINE K                – 911722104047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AARTHI C                  – 911722104002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BUVANESWARI C    – 911721104018</a:t>
            </a:r>
          </a:p>
          <a:p>
            <a:r>
              <a:rPr lang="en-I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GAYATHRI B             – 911722104036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DB02CF-A934-C6D5-97ED-F63097E051DB}"/>
              </a:ext>
            </a:extLst>
          </p:cNvPr>
          <p:cNvSpPr txBox="1"/>
          <p:nvPr/>
        </p:nvSpPr>
        <p:spPr>
          <a:xfrm>
            <a:off x="328349" y="6320123"/>
            <a:ext cx="648742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</a:p>
          <a:p>
            <a:pPr algn="ctr"/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Mrs.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D.ELAVARASI M.E.,</a:t>
            </a:r>
            <a:r>
              <a:rPr lang="en-I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PHD </a:t>
            </a:r>
          </a:p>
          <a:p>
            <a:pPr algn="ctr"/>
            <a:r>
              <a:rPr lang="en-I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AP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/CSE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583365" y="6257806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3265860" y="-1023938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749240">
            <a:off x="14107833" y="8613248"/>
            <a:ext cx="2252125" cy="1126062"/>
          </a:xfrm>
          <a:custGeom>
            <a:avLst/>
            <a:gdLst/>
            <a:ahLst/>
            <a:cxnLst/>
            <a:rect l="l" t="t" r="r" b="b"/>
            <a:pathLst>
              <a:path w="2252125" h="1126062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749240" flipV="1">
            <a:off x="1905275" y="650043"/>
            <a:ext cx="2128989" cy="1064495"/>
          </a:xfrm>
          <a:custGeom>
            <a:avLst/>
            <a:gdLst/>
            <a:ahLst/>
            <a:cxnLst/>
            <a:rect l="l" t="t" r="r" b="b"/>
            <a:pathLst>
              <a:path w="2128989" h="1064495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491586" y="8853488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869488" y="-983397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800600" y="566737"/>
            <a:ext cx="10998524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92"/>
              </a:lnSpc>
            </a:pPr>
            <a:r>
              <a:rPr lang="en-US" sz="8000" b="1" dirty="0">
                <a:solidFill>
                  <a:srgbClr val="03275A"/>
                </a:solidFill>
                <a:latin typeface="Times New Roman" panose="02020603050405020304" pitchFamily="18" charset="0"/>
                <a:ea typeface="Nunito Sans Bold"/>
                <a:cs typeface="Times New Roman" panose="02020603050405020304" pitchFamily="18" charset="0"/>
                <a:sym typeface="Nunito Sans Bold"/>
              </a:rPr>
              <a:t>ABSTRACT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425460" y="2450260"/>
            <a:ext cx="14053185" cy="60939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sz="3600" spc="-45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sz="3600" spc="-19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lang="en-US" sz="3600" spc="-19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presents</a:t>
            </a:r>
            <a:r>
              <a:rPr lang="en-US" sz="3600" spc="-19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en-US" sz="3600" spc="-19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175">
                <a:latin typeface="Times New Roman" panose="02020603050405020304" pitchFamily="18" charset="0"/>
                <a:cs typeface="Times New Roman" panose="02020603050405020304" pitchFamily="18" charset="0"/>
              </a:rPr>
              <a:t>AI-</a:t>
            </a: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powered</a:t>
            </a:r>
            <a:r>
              <a:rPr lang="en-US" sz="3600" spc="-19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85">
                <a:latin typeface="Times New Roman" panose="02020603050405020304" pitchFamily="18" charset="0"/>
                <a:cs typeface="Times New Roman" panose="02020603050405020304" pitchFamily="18" charset="0"/>
              </a:rPr>
              <a:t>E-</a:t>
            </a:r>
            <a:r>
              <a:rPr lang="en-US" sz="3600" spc="65">
                <a:latin typeface="Times New Roman" panose="02020603050405020304" pitchFamily="18" charset="0"/>
                <a:cs typeface="Times New Roman" panose="02020603050405020304" pitchFamily="18" charset="0"/>
              </a:rPr>
              <a:t>commerce</a:t>
            </a:r>
            <a:r>
              <a:rPr lang="en-US" sz="3600" spc="-19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50"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lang="en-US" sz="3600" spc="-19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</a:t>
            </a:r>
            <a:r>
              <a:rPr lang="en-US" sz="3600" spc="65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sz="3600" spc="-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4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spc="-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Fresh</a:t>
            </a:r>
            <a:r>
              <a:rPr lang="en-US" sz="3600" spc="-19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Chat</a:t>
            </a:r>
            <a:r>
              <a:rPr lang="en-US" sz="3600" spc="-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55">
                <a:latin typeface="Times New Roman" panose="02020603050405020304" pitchFamily="18" charset="0"/>
                <a:cs typeface="Times New Roman" panose="02020603050405020304" pitchFamily="18" charset="0"/>
              </a:rPr>
              <a:t>interface,</a:t>
            </a:r>
            <a:r>
              <a:rPr lang="en-US" sz="3600" spc="-19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55">
                <a:latin typeface="Times New Roman" panose="02020603050405020304" pitchFamily="18" charset="0"/>
                <a:cs typeface="Times New Roman" panose="02020603050405020304" pitchFamily="18" charset="0"/>
              </a:rPr>
              <a:t>designed</a:t>
            </a:r>
            <a:r>
              <a:rPr lang="en-US" sz="3600" spc="-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3600" spc="-19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provide</a:t>
            </a:r>
            <a:r>
              <a:rPr lang="en-US" sz="3600" spc="-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</a:t>
            </a:r>
            <a:r>
              <a:rPr lang="en-US" sz="3600" spc="-19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55">
                <a:latin typeface="Times New Roman" panose="02020603050405020304" pitchFamily="18" charset="0"/>
                <a:cs typeface="Times New Roman" panose="02020603050405020304" pitchFamily="18" charset="0"/>
              </a:rPr>
              <a:t>product </a:t>
            </a:r>
            <a:r>
              <a:rPr lang="en-US" sz="3600" spc="45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  <a:r>
              <a:rPr lang="en-US" sz="3600" spc="-15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7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3600" spc="-14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automated</a:t>
            </a:r>
            <a:r>
              <a:rPr lang="en-US" sz="3600" spc="-14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customer</a:t>
            </a:r>
            <a:r>
              <a:rPr lang="en-US" sz="3600" spc="-14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20">
                <a:latin typeface="Times New Roman" panose="02020603050405020304" pitchFamily="18" charset="0"/>
                <a:cs typeface="Times New Roman" panose="02020603050405020304" pitchFamily="18" charset="0"/>
              </a:rPr>
              <a:t>support.</a:t>
            </a:r>
            <a:r>
              <a:rPr lang="en-US" sz="3600" spc="-14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3600" spc="-15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4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3600" spc="-14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2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Sentence</a:t>
            </a:r>
            <a:r>
              <a:rPr lang="en-US" sz="3600" spc="-17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45">
                <a:latin typeface="Times New Roman" panose="02020603050405020304" pitchFamily="18" charset="0"/>
                <a:cs typeface="Times New Roman" panose="02020603050405020304" pitchFamily="18" charset="0"/>
              </a:rPr>
              <a:t>Transformers</a:t>
            </a:r>
            <a:r>
              <a:rPr lang="en-US" sz="3600" spc="-17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3600" spc="-17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generate</a:t>
            </a:r>
            <a:r>
              <a:rPr lang="en-US" sz="3600" spc="-17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semantic</a:t>
            </a:r>
            <a:r>
              <a:rPr lang="en-US" sz="3600" spc="-17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80">
                <a:latin typeface="Times New Roman" panose="02020603050405020304" pitchFamily="18" charset="0"/>
                <a:cs typeface="Times New Roman" panose="02020603050405020304" pitchFamily="18" charset="0"/>
              </a:rPr>
              <a:t>embeddings</a:t>
            </a:r>
            <a:r>
              <a:rPr lang="en-US" sz="3600" spc="-17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3600" spc="-16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55">
                <a:latin typeface="Times New Roman" panose="02020603050405020304" pitchFamily="18" charset="0"/>
                <a:cs typeface="Times New Roman" panose="02020603050405020304" pitchFamily="18" charset="0"/>
              </a:rPr>
              <a:t>product </a:t>
            </a: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descriptions</a:t>
            </a:r>
            <a:r>
              <a:rPr lang="en-US" sz="3600" spc="-19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7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3600" spc="-19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60">
                <a:latin typeface="Times New Roman" panose="02020603050405020304" pitchFamily="18" charset="0"/>
                <a:cs typeface="Times New Roman" panose="02020603050405020304" pitchFamily="18" charset="0"/>
              </a:rPr>
              <a:t>stores</a:t>
            </a:r>
            <a:r>
              <a:rPr lang="en-US" sz="3600" spc="-19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95">
                <a:latin typeface="Times New Roman" panose="02020603050405020304" pitchFamily="18" charset="0"/>
                <a:cs typeface="Times New Roman" panose="02020603050405020304" pitchFamily="18" charset="0"/>
              </a:rPr>
              <a:t>them</a:t>
            </a:r>
            <a:r>
              <a:rPr lang="en-US" sz="3600" spc="-19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3600" spc="-19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4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spc="-19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en-US" sz="3600" spc="-19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US" sz="3600" spc="-19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65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sz="3600" spc="-19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pgvector </a:t>
            </a:r>
            <a:r>
              <a:rPr lang="en-US" sz="3600" spc="-60">
                <a:latin typeface="Times New Roman" panose="02020603050405020304" pitchFamily="18" charset="0"/>
                <a:cs typeface="Times New Roman" panose="02020603050405020304" pitchFamily="18" charset="0"/>
              </a:rPr>
              <a:t>extension.</a:t>
            </a:r>
            <a:r>
              <a:rPr lang="en-US" sz="3600" spc="-21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140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en-US" sz="3600" spc="-21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50">
                <a:latin typeface="Times New Roman" panose="02020603050405020304" pitchFamily="18" charset="0"/>
                <a:cs typeface="Times New Roman" panose="02020603050405020304" pitchFamily="18" charset="0"/>
              </a:rPr>
              <a:t>users</a:t>
            </a:r>
            <a:r>
              <a:rPr lang="en-US" sz="3600" spc="-22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interact</a:t>
            </a:r>
            <a:r>
              <a:rPr lang="en-US" sz="3600" spc="-21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60">
                <a:latin typeface="Times New Roman" panose="02020603050405020304" pitchFamily="18" charset="0"/>
                <a:cs typeface="Times New Roman" panose="02020603050405020304" pitchFamily="18" charset="0"/>
              </a:rPr>
              <a:t>through</a:t>
            </a:r>
            <a:r>
              <a:rPr lang="en-US" sz="3600" spc="-22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5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3600" spc="-21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Fresh</a:t>
            </a:r>
            <a:r>
              <a:rPr lang="en-US" sz="3600" spc="-22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Chat</a:t>
            </a:r>
            <a:r>
              <a:rPr lang="en-US" sz="3600" spc="-21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55">
                <a:latin typeface="Times New Roman" panose="02020603050405020304" pitchFamily="18" charset="0"/>
                <a:cs typeface="Times New Roman" panose="02020603050405020304" pitchFamily="18" charset="0"/>
              </a:rPr>
              <a:t>interface,</a:t>
            </a:r>
            <a:r>
              <a:rPr lang="en-US" sz="3600" spc="-21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their </a:t>
            </a: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queries</a:t>
            </a:r>
            <a:r>
              <a:rPr lang="en-US" sz="3600" spc="-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55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US" sz="3600" spc="-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converted</a:t>
            </a:r>
            <a:r>
              <a:rPr lang="en-US" sz="3600" spc="-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en-US" sz="3600" spc="-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80">
                <a:latin typeface="Times New Roman" panose="02020603050405020304" pitchFamily="18" charset="0"/>
                <a:cs typeface="Times New Roman" panose="02020603050405020304" pitchFamily="18" charset="0"/>
              </a:rPr>
              <a:t>embeddings</a:t>
            </a:r>
            <a:r>
              <a:rPr lang="en-US" sz="3600" spc="-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7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3600" spc="-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70">
                <a:latin typeface="Times New Roman" panose="02020603050405020304" pitchFamily="18" charset="0"/>
                <a:cs typeface="Times New Roman" panose="02020603050405020304" pitchFamily="18" charset="0"/>
              </a:rPr>
              <a:t>matched</a:t>
            </a:r>
            <a:r>
              <a:rPr lang="en-US" sz="3600" spc="-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en-US" sz="3600" spc="-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vector </a:t>
            </a:r>
            <a:r>
              <a:rPr lang="en-US" sz="3600" spc="-40">
                <a:latin typeface="Times New Roman" panose="02020603050405020304" pitchFamily="18" charset="0"/>
                <a:cs typeface="Times New Roman" panose="02020603050405020304" pitchFamily="18" charset="0"/>
              </a:rPr>
              <a:t>similarity</a:t>
            </a:r>
            <a:r>
              <a:rPr lang="en-US" sz="3600" spc="-21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25">
                <a:latin typeface="Times New Roman" panose="02020603050405020304" pitchFamily="18" charset="0"/>
                <a:cs typeface="Times New Roman" panose="02020603050405020304" pitchFamily="18" charset="0"/>
              </a:rPr>
              <a:t>search</a:t>
            </a:r>
            <a:r>
              <a:rPr lang="en-US" sz="3600" spc="-204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3600" spc="-21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60">
                <a:latin typeface="Times New Roman" panose="02020603050405020304" pitchFamily="18" charset="0"/>
                <a:cs typeface="Times New Roman" panose="02020603050405020304" pitchFamily="18" charset="0"/>
              </a:rPr>
              <a:t>retrieve</a:t>
            </a:r>
            <a:r>
              <a:rPr lang="en-US" sz="3600" spc="-204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40">
                <a:latin typeface="Times New Roman" panose="02020603050405020304" pitchFamily="18" charset="0"/>
                <a:cs typeface="Times New Roman" panose="02020603050405020304" pitchFamily="18" charset="0"/>
              </a:rPr>
              <a:t>relevant</a:t>
            </a:r>
            <a:r>
              <a:rPr lang="en-US" sz="3600" spc="-204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20">
                <a:latin typeface="Times New Roman" panose="02020603050405020304" pitchFamily="18" charset="0"/>
                <a:cs typeface="Times New Roman" panose="02020603050405020304" pitchFamily="18" charset="0"/>
              </a:rPr>
              <a:t>products.</a:t>
            </a:r>
            <a:r>
              <a:rPr lang="en-US" sz="3600" spc="-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9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en-US" sz="3600" spc="-204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open-source</a:t>
            </a:r>
            <a:r>
              <a:rPr lang="en-US" sz="3600" spc="-21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130">
                <a:latin typeface="Times New Roman" panose="02020603050405020304" pitchFamily="18" charset="0"/>
                <a:cs typeface="Times New Roman" panose="02020603050405020304" pitchFamily="18" charset="0"/>
              </a:rPr>
              <a:t>LLM </a:t>
            </a: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generates</a:t>
            </a:r>
            <a:r>
              <a:rPr lang="en-US" sz="3600" spc="-15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60">
                <a:latin typeface="Times New Roman" panose="02020603050405020304" pitchFamily="18" charset="0"/>
                <a:cs typeface="Times New Roman" panose="02020603050405020304" pitchFamily="18" charset="0"/>
              </a:rPr>
              <a:t>natural,</a:t>
            </a:r>
            <a:r>
              <a:rPr lang="en-US" sz="3600" spc="-14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human-</a:t>
            </a:r>
            <a:r>
              <a:rPr lang="en-US" sz="3600" spc="-30">
                <a:latin typeface="Times New Roman" panose="02020603050405020304" pitchFamily="18" charset="0"/>
                <a:cs typeface="Times New Roman" panose="02020603050405020304" pitchFamily="18" charset="0"/>
              </a:rPr>
              <a:t>like</a:t>
            </a:r>
            <a:r>
              <a:rPr lang="en-US" sz="3600" spc="-15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65">
                <a:latin typeface="Times New Roman" panose="02020603050405020304" pitchFamily="18" charset="0"/>
                <a:cs typeface="Times New Roman" panose="02020603050405020304" pitchFamily="18" charset="0"/>
              </a:rPr>
              <a:t>responses.</a:t>
            </a:r>
            <a:r>
              <a:rPr lang="en-US" sz="3600" spc="-15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45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sz="3600" spc="-15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approach</a:t>
            </a:r>
            <a:r>
              <a:rPr lang="en-US" sz="3600" spc="-15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improves</a:t>
            </a:r>
            <a:r>
              <a:rPr lang="en-US" sz="3600" spc="-15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search </a:t>
            </a:r>
            <a:r>
              <a:rPr lang="en-US" sz="3600" spc="-40">
                <a:latin typeface="Times New Roman" panose="02020603050405020304" pitchFamily="18" charset="0"/>
                <a:cs typeface="Times New Roman" panose="02020603050405020304" pitchFamily="18" charset="0"/>
              </a:rPr>
              <a:t>precision,</a:t>
            </a:r>
            <a:r>
              <a:rPr lang="en-US" sz="3600" spc="-16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30">
                <a:latin typeface="Times New Roman" panose="02020603050405020304" pitchFamily="18" charset="0"/>
                <a:cs typeface="Times New Roman" panose="02020603050405020304" pitchFamily="18" charset="0"/>
              </a:rPr>
              <a:t>personalization,</a:t>
            </a:r>
            <a:r>
              <a:rPr lang="en-US" sz="3600" spc="-16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7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3600" spc="-17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customer</a:t>
            </a:r>
            <a:r>
              <a:rPr lang="en-US" sz="3600" spc="-16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experience</a:t>
            </a:r>
            <a:r>
              <a:rPr lang="en-US" sz="3600" spc="-17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3600" spc="-17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80">
                <a:latin typeface="Times New Roman" panose="02020603050405020304" pitchFamily="18" charset="0"/>
                <a:cs typeface="Times New Roman" panose="02020603050405020304" pitchFamily="18" charset="0"/>
              </a:rPr>
              <a:t>e-</a:t>
            </a:r>
            <a:r>
              <a:rPr lang="en-US" sz="3600" spc="55">
                <a:latin typeface="Times New Roman" panose="02020603050405020304" pitchFamily="18" charset="0"/>
                <a:cs typeface="Times New Roman" panose="02020603050405020304" pitchFamily="18" charset="0"/>
              </a:rPr>
              <a:t>commerce </a:t>
            </a:r>
            <a:r>
              <a:rPr lang="en-US" sz="36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platforms.</a:t>
            </a:r>
            <a:endParaRPr lang="en-US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600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15C77B-0621-C4FC-92DA-4775B4283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0D789C0-CFA2-8A04-F4E6-FF62649F39E3}"/>
              </a:ext>
            </a:extLst>
          </p:cNvPr>
          <p:cNvSpPr/>
          <p:nvPr/>
        </p:nvSpPr>
        <p:spPr>
          <a:xfrm>
            <a:off x="9583365" y="6257806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CEF8B8D-8DCE-4449-E9E9-7A3FE346C2B0}"/>
              </a:ext>
            </a:extLst>
          </p:cNvPr>
          <p:cNvSpPr/>
          <p:nvPr/>
        </p:nvSpPr>
        <p:spPr>
          <a:xfrm flipH="1" flipV="1">
            <a:off x="-3265860" y="-1023938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D2FFB60A-BFBE-A56D-F881-4E4636491AC7}"/>
              </a:ext>
            </a:extLst>
          </p:cNvPr>
          <p:cNvSpPr/>
          <p:nvPr/>
        </p:nvSpPr>
        <p:spPr>
          <a:xfrm rot="-1749240">
            <a:off x="14107833" y="8613248"/>
            <a:ext cx="2252125" cy="1126062"/>
          </a:xfrm>
          <a:custGeom>
            <a:avLst/>
            <a:gdLst/>
            <a:ahLst/>
            <a:cxnLst/>
            <a:rect l="l" t="t" r="r" b="b"/>
            <a:pathLst>
              <a:path w="2252125" h="1126062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581F2B1D-8EB7-C74E-BA7D-08BC639F0C3D}"/>
              </a:ext>
            </a:extLst>
          </p:cNvPr>
          <p:cNvSpPr/>
          <p:nvPr/>
        </p:nvSpPr>
        <p:spPr>
          <a:xfrm rot="-1749240" flipV="1">
            <a:off x="1905275" y="650043"/>
            <a:ext cx="2128989" cy="1064495"/>
          </a:xfrm>
          <a:custGeom>
            <a:avLst/>
            <a:gdLst/>
            <a:ahLst/>
            <a:cxnLst/>
            <a:rect l="l" t="t" r="r" b="b"/>
            <a:pathLst>
              <a:path w="2128989" h="1064495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8E9E7D93-8F2F-6BC0-C50B-5A1629A41C7E}"/>
              </a:ext>
            </a:extLst>
          </p:cNvPr>
          <p:cNvSpPr/>
          <p:nvPr/>
        </p:nvSpPr>
        <p:spPr>
          <a:xfrm>
            <a:off x="16491586" y="8853488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3F4032B0-BDA2-C22B-97EB-2681DC493B8E}"/>
              </a:ext>
            </a:extLst>
          </p:cNvPr>
          <p:cNvSpPr/>
          <p:nvPr/>
        </p:nvSpPr>
        <p:spPr>
          <a:xfrm>
            <a:off x="-869488" y="-983397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CB1BD5C8-D766-9D41-56FF-3C285BB4D13D}"/>
              </a:ext>
            </a:extLst>
          </p:cNvPr>
          <p:cNvSpPr txBox="1"/>
          <p:nvPr/>
        </p:nvSpPr>
        <p:spPr>
          <a:xfrm>
            <a:off x="4800600" y="566737"/>
            <a:ext cx="10998524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92"/>
              </a:lnSpc>
            </a:pPr>
            <a:r>
              <a:rPr lang="en-US" sz="8000" b="1" dirty="0">
                <a:solidFill>
                  <a:srgbClr val="03275A"/>
                </a:solidFill>
                <a:latin typeface="Times New Roman" panose="02020603050405020304" pitchFamily="18" charset="0"/>
                <a:ea typeface="Nunito Sans Bold"/>
                <a:cs typeface="Times New Roman" panose="02020603050405020304" pitchFamily="18" charset="0"/>
                <a:sym typeface="Nunito Sans Bold"/>
              </a:rPr>
              <a:t>INTRODUCTION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8FAC429-BEDA-8BF8-E6AC-45D9A4252048}"/>
              </a:ext>
            </a:extLst>
          </p:cNvPr>
          <p:cNvSpPr txBox="1"/>
          <p:nvPr/>
        </p:nvSpPr>
        <p:spPr>
          <a:xfrm>
            <a:off x="2710515" y="2233331"/>
            <a:ext cx="13745699" cy="642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4200" marR="836930" indent="-571500">
              <a:lnSpc>
                <a:spcPct val="116599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sz="4000" spc="120">
                <a:latin typeface="Times New Roman" panose="02020603050405020304" pitchFamily="18" charset="0"/>
                <a:cs typeface="Times New Roman" panose="02020603050405020304" pitchFamily="18" charset="0"/>
              </a:rPr>
              <a:t>Modern</a:t>
            </a:r>
            <a:r>
              <a:rPr lang="en-US" sz="4000" spc="-25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spc="-95">
                <a:latin typeface="Times New Roman" panose="02020603050405020304" pitchFamily="18" charset="0"/>
                <a:cs typeface="Times New Roman" panose="02020603050405020304" pitchFamily="18" charset="0"/>
              </a:rPr>
              <a:t>e-</a:t>
            </a:r>
            <a:r>
              <a:rPr lang="en-US" sz="4000" spc="105">
                <a:latin typeface="Times New Roman" panose="02020603050405020304" pitchFamily="18" charset="0"/>
                <a:cs typeface="Times New Roman" panose="02020603050405020304" pitchFamily="18" charset="0"/>
              </a:rPr>
              <a:t>commerce</a:t>
            </a:r>
            <a:r>
              <a:rPr lang="en-US" sz="4000" spc="-24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platforms</a:t>
            </a:r>
            <a:r>
              <a:rPr lang="en-US" sz="4000" spc="-24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require </a:t>
            </a:r>
            <a:r>
              <a:rPr lang="en-US" sz="4000" spc="45">
                <a:latin typeface="Times New Roman" panose="02020603050405020304" pitchFamily="18" charset="0"/>
                <a:cs typeface="Times New Roman" panose="02020603050405020304" pitchFamily="18" charset="0"/>
              </a:rPr>
              <a:t>intelligent</a:t>
            </a:r>
            <a:r>
              <a:rPr lang="en-US" sz="4000" spc="-29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conversational</a:t>
            </a:r>
            <a:r>
              <a:rPr lang="en-US" sz="4000" spc="-29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spc="-50">
                <a:latin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en-US" sz="4000" spc="-29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4000" spc="-28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improve </a:t>
            </a:r>
            <a:r>
              <a:rPr lang="en-US" sz="4000" spc="-25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en-US" sz="4000" spc="-31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spc="114">
                <a:latin typeface="Times New Roman" panose="02020603050405020304" pitchFamily="18" charset="0"/>
                <a:cs typeface="Times New Roman" panose="02020603050405020304" pitchFamily="18" charset="0"/>
              </a:rPr>
              <a:t>engagement</a:t>
            </a:r>
            <a:r>
              <a:rPr lang="en-US" sz="4000" spc="-31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spc="11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4000" spc="-31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spc="95">
                <a:latin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  <a:r>
              <a:rPr lang="en-US" sz="4000" spc="-31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discovery.</a:t>
            </a:r>
            <a:endParaRPr 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84200" marR="5080" indent="-571500">
              <a:lnSpc>
                <a:spcPct val="116599"/>
              </a:lnSpc>
              <a:buFont typeface="Arial" panose="020B0604020202020204" pitchFamily="34" charset="0"/>
              <a:buChar char="•"/>
            </a:pPr>
            <a:r>
              <a:rPr lang="en-US" sz="40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</a:t>
            </a:r>
            <a:r>
              <a:rPr lang="en-US" sz="4000" spc="-27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spc="-45">
                <a:latin typeface="Times New Roman" panose="02020603050405020304" pitchFamily="18" charset="0"/>
                <a:cs typeface="Times New Roman" panose="02020603050405020304" pitchFamily="18" charset="0"/>
              </a:rPr>
              <a:t>keyword-</a:t>
            </a:r>
            <a:r>
              <a:rPr lang="en-US" sz="4000" spc="50">
                <a:latin typeface="Times New Roman" panose="02020603050405020304" pitchFamily="18" charset="0"/>
                <a:cs typeface="Times New Roman" panose="02020603050405020304" pitchFamily="18" charset="0"/>
              </a:rPr>
              <a:t>based</a:t>
            </a:r>
            <a:r>
              <a:rPr lang="en-US" sz="4000" spc="-27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spc="-20">
                <a:latin typeface="Times New Roman" panose="02020603050405020304" pitchFamily="18" charset="0"/>
                <a:cs typeface="Times New Roman" panose="02020603050405020304" pitchFamily="18" charset="0"/>
              </a:rPr>
              <a:t>search</a:t>
            </a:r>
            <a:r>
              <a:rPr lang="en-US" sz="4000" spc="-27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lacks </a:t>
            </a:r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contextual</a:t>
            </a:r>
            <a:r>
              <a:rPr lang="en-US" sz="4000" spc="-12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understanding.</a:t>
            </a:r>
            <a:r>
              <a:rPr lang="en-US" sz="4000" spc="-114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84200" marR="5080" indent="-571500">
              <a:lnSpc>
                <a:spcPct val="116599"/>
              </a:lnSpc>
              <a:buFont typeface="Arial" panose="020B0604020202020204" pitchFamily="34" charset="0"/>
              <a:buChar char="•"/>
            </a:pPr>
            <a:r>
              <a:rPr lang="en-US" sz="4000" spc="-45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sz="4000" spc="-12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US" sz="4000" spc="45">
                <a:latin typeface="Times New Roman" panose="02020603050405020304" pitchFamily="18" charset="0"/>
                <a:cs typeface="Times New Roman" panose="02020603050405020304" pitchFamily="18" charset="0"/>
              </a:rPr>
              <a:t>introduces</a:t>
            </a:r>
            <a:r>
              <a:rPr lang="en-US" sz="4000" spc="-27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spc="-45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4000" spc="-26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spc="80"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lang="en-US" sz="4000" spc="-26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integrated</a:t>
            </a:r>
            <a:r>
              <a:rPr lang="en-US" sz="4000" spc="-26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spc="95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sz="4000" spc="-26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spc="-45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4000" spc="-26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Fresh </a:t>
            </a:r>
            <a:r>
              <a:rPr lang="en-US" sz="4000" spc="55">
                <a:latin typeface="Times New Roman" panose="02020603050405020304" pitchFamily="18" charset="0"/>
                <a:cs typeface="Times New Roman" panose="02020603050405020304" pitchFamily="18" charset="0"/>
              </a:rPr>
              <a:t>Chat</a:t>
            </a:r>
            <a:r>
              <a:rPr lang="en-US" sz="4000" spc="-32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spc="-60">
                <a:latin typeface="Times New Roman" panose="02020603050405020304" pitchFamily="18" charset="0"/>
                <a:cs typeface="Times New Roman" panose="02020603050405020304" pitchFamily="18" charset="0"/>
              </a:rPr>
              <a:t>interface,</a:t>
            </a:r>
            <a:r>
              <a:rPr lang="en-US" sz="4000" spc="-31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spc="65">
                <a:latin typeface="Times New Roman" panose="02020603050405020304" pitchFamily="18" charset="0"/>
                <a:cs typeface="Times New Roman" panose="02020603050405020304" pitchFamily="18" charset="0"/>
              </a:rPr>
              <a:t>powered</a:t>
            </a:r>
            <a:r>
              <a:rPr lang="en-US" sz="4000" spc="-31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spc="-3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US" sz="4000" spc="-31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spc="60">
                <a:latin typeface="Times New Roman" panose="02020603050405020304" pitchFamily="18" charset="0"/>
                <a:cs typeface="Times New Roman" panose="02020603050405020304" pitchFamily="18" charset="0"/>
              </a:rPr>
              <a:t>semantic</a:t>
            </a:r>
            <a:r>
              <a:rPr lang="en-US" sz="4000" spc="-30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search </a:t>
            </a:r>
            <a:r>
              <a:rPr lang="en-US" sz="4000" spc="8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en-US" sz="4000" spc="-254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pgvector</a:t>
            </a:r>
            <a:r>
              <a:rPr lang="en-US" sz="4000" spc="-254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spc="11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4000" spc="-25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spc="90">
                <a:latin typeface="Times New Roman" panose="02020603050405020304" pitchFamily="18" charset="0"/>
                <a:cs typeface="Times New Roman" panose="02020603050405020304" pitchFamily="18" charset="0"/>
              </a:rPr>
              <a:t>LLM-</a:t>
            </a:r>
            <a:r>
              <a:rPr lang="en-US" sz="4000" spc="50">
                <a:latin typeface="Times New Roman" panose="02020603050405020304" pitchFamily="18" charset="0"/>
                <a:cs typeface="Times New Roman" panose="02020603050405020304" pitchFamily="18" charset="0"/>
              </a:rPr>
              <a:t>based</a:t>
            </a:r>
            <a:r>
              <a:rPr lang="en-US" sz="4000" spc="-254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conversational</a:t>
            </a:r>
            <a:r>
              <a:rPr lang="en-US" sz="4000" spc="-254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spc="-25">
                <a:latin typeface="Times New Roman" panose="02020603050405020304" pitchFamily="18" charset="0"/>
                <a:cs typeface="Times New Roman" panose="02020603050405020304" pitchFamily="18" charset="0"/>
              </a:rPr>
              <a:t>AI </a:t>
            </a:r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4000" spc="-25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provide</a:t>
            </a:r>
            <a:r>
              <a:rPr lang="en-US" sz="4000" spc="-25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accurate</a:t>
            </a:r>
            <a:r>
              <a:rPr lang="en-US" sz="4000" spc="-25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spc="75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  <a:r>
              <a:rPr lang="en-US" sz="4000" spc="-24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spc="85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4000" spc="65">
                <a:latin typeface="Times New Roman" panose="02020603050405020304" pitchFamily="18" charset="0"/>
                <a:cs typeface="Times New Roman" panose="02020603050405020304" pitchFamily="18" charset="0"/>
              </a:rPr>
              <a:t>automated</a:t>
            </a:r>
            <a:r>
              <a:rPr lang="en-US" sz="4000" spc="-33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support.</a:t>
            </a:r>
            <a:endParaRPr 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2831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583365" y="6257806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3265860" y="-1023938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749240">
            <a:off x="14107833" y="8613248"/>
            <a:ext cx="2252125" cy="1126062"/>
          </a:xfrm>
          <a:custGeom>
            <a:avLst/>
            <a:gdLst/>
            <a:ahLst/>
            <a:cxnLst/>
            <a:rect l="l" t="t" r="r" b="b"/>
            <a:pathLst>
              <a:path w="2252125" h="1126062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749240" flipV="1">
            <a:off x="1905275" y="650043"/>
            <a:ext cx="2128989" cy="1064495"/>
          </a:xfrm>
          <a:custGeom>
            <a:avLst/>
            <a:gdLst/>
            <a:ahLst/>
            <a:cxnLst/>
            <a:rect l="l" t="t" r="r" b="b"/>
            <a:pathLst>
              <a:path w="2128989" h="1064495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491586" y="8853488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869488" y="-983397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105400" y="566737"/>
            <a:ext cx="12145568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292"/>
              </a:lnSpc>
            </a:pPr>
            <a:r>
              <a:rPr lang="en-US" sz="8000" b="1" dirty="0">
                <a:solidFill>
                  <a:srgbClr val="03275A"/>
                </a:solidFill>
                <a:latin typeface="Times New Roman" panose="02020603050405020304" pitchFamily="18" charset="0"/>
                <a:ea typeface="Nunito Sans Bold"/>
                <a:cs typeface="Times New Roman" panose="02020603050405020304" pitchFamily="18" charset="0"/>
                <a:sym typeface="Nunito Sans Bold"/>
              </a:rPr>
              <a:t>AIM AND OBJECTIVES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9619" y="2379059"/>
            <a:ext cx="16611600" cy="76815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sz="3600" b="1" dirty="0">
                <a:cs typeface="Times New Roman" panose="02020603050405020304" pitchFamily="18" charset="0"/>
              </a:rPr>
              <a:t>Aim</a:t>
            </a:r>
          </a:p>
          <a:p>
            <a:pPr algn="just"/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AI-powered e-commerce chatbot that can understand user queries using Natural Language Processing and semantic search techniques, and provide accurate, relevant, and human-like responses to improve user interaction and automate customer support.</a:t>
            </a:r>
          </a:p>
          <a:p>
            <a:pPr algn="just"/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584200" marR="5080" indent="-571500">
              <a:lnSpc>
                <a:spcPct val="1149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  <a:t>Develop</a:t>
            </a:r>
            <a:r>
              <a:rPr lang="en-IN" sz="3600" spc="-26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spc="-6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3600" spc="-26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spc="95"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lang="en-IN" sz="3600" spc="-26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  <a:t>integrated</a:t>
            </a:r>
            <a:r>
              <a:rPr lang="en-IN" sz="3600" spc="-254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spc="11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IN" sz="3600" spc="-26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Fresh </a:t>
            </a:r>
            <a:r>
              <a:rPr lang="en-IN" sz="3600" spc="65">
                <a:latin typeface="Times New Roman" panose="02020603050405020304" pitchFamily="18" charset="0"/>
                <a:cs typeface="Times New Roman" panose="02020603050405020304" pitchFamily="18" charset="0"/>
              </a:rPr>
              <a:t>Chat</a:t>
            </a:r>
            <a:r>
              <a:rPr lang="en-IN" sz="3600" spc="-38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spc="-70">
                <a:latin typeface="Times New Roman" panose="02020603050405020304" pitchFamily="18" charset="0"/>
                <a:cs typeface="Times New Roman" panose="02020603050405020304" pitchFamily="18" charset="0"/>
              </a:rPr>
              <a:t>interface.</a:t>
            </a:r>
          </a:p>
          <a:p>
            <a:pPr marL="584200" marR="5080" indent="-571500">
              <a:lnSpc>
                <a:spcPct val="1149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IN" sz="3600" spc="-37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spc="80">
                <a:latin typeface="Times New Roman" panose="02020603050405020304" pitchFamily="18" charset="0"/>
                <a:cs typeface="Times New Roman" panose="02020603050405020304" pitchFamily="18" charset="0"/>
              </a:rPr>
              <a:t>Implement</a:t>
            </a:r>
            <a:r>
              <a:rPr lang="en-IN" sz="3600" spc="-37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spc="70">
                <a:latin typeface="Times New Roman" panose="02020603050405020304" pitchFamily="18" charset="0"/>
                <a:cs typeface="Times New Roman" panose="02020603050405020304" pitchFamily="18" charset="0"/>
              </a:rPr>
              <a:t>semantic</a:t>
            </a:r>
            <a:r>
              <a:rPr lang="en-IN" sz="3600" spc="-37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search </a:t>
            </a:r>
            <a:r>
              <a:rPr lang="en-IN" sz="3600" spc="9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en-IN" sz="3600" spc="-35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spc="-45">
                <a:latin typeface="Times New Roman" panose="02020603050405020304" pitchFamily="18" charset="0"/>
                <a:cs typeface="Times New Roman" panose="02020603050405020304" pitchFamily="18" charset="0"/>
              </a:rPr>
              <a:t>pgvector.</a:t>
            </a:r>
          </a:p>
          <a:p>
            <a:pPr marL="584200" marR="5080" indent="-571500">
              <a:lnSpc>
                <a:spcPct val="1149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IN" sz="3600" spc="-35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Generate</a:t>
            </a:r>
            <a:r>
              <a:rPr lang="en-IN" sz="3600" spc="-35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spc="130">
                <a:latin typeface="Times New Roman" panose="02020603050405020304" pitchFamily="18" charset="0"/>
                <a:cs typeface="Times New Roman" panose="02020603050405020304" pitchFamily="18" charset="0"/>
              </a:rPr>
              <a:t>embeddings </a:t>
            </a:r>
            <a:r>
              <a:rPr lang="en-IN" sz="3600" spc="9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en-IN" sz="3600" spc="-27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  <a:t>Sentence</a:t>
            </a:r>
            <a:r>
              <a:rPr lang="en-IN" sz="3600" spc="-27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spc="-95">
                <a:latin typeface="Times New Roman" panose="02020603050405020304" pitchFamily="18" charset="0"/>
                <a:cs typeface="Times New Roman" panose="02020603050405020304" pitchFamily="18" charset="0"/>
              </a:rPr>
              <a:t>Transformers.</a:t>
            </a:r>
            <a:r>
              <a:rPr lang="en-IN" sz="3600" spc="-27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84200" marR="5080" indent="-571500">
              <a:lnSpc>
                <a:spcPct val="1149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IN" sz="36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Provide </a:t>
            </a:r>
            <a:r>
              <a:rPr lang="en-IN" sz="3600" spc="45">
                <a:latin typeface="Times New Roman" panose="02020603050405020304" pitchFamily="18" charset="0"/>
                <a:cs typeface="Times New Roman" panose="02020603050405020304" pitchFamily="18" charset="0"/>
              </a:rPr>
              <a:t>intelligent</a:t>
            </a:r>
            <a:r>
              <a:rPr lang="en-IN" sz="3600" spc="-27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spc="114">
                <a:latin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  <a:r>
              <a:rPr lang="en-IN" sz="3600" spc="-27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recommendations.</a:t>
            </a:r>
            <a:endParaRPr lang="en-IN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84200" marR="5080" indent="-571500">
              <a:lnSpc>
                <a:spcPct val="1149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IN" sz="3600" spc="75">
                <a:latin typeface="Times New Roman" panose="02020603050405020304" pitchFamily="18" charset="0"/>
                <a:cs typeface="Times New Roman" panose="02020603050405020304" pitchFamily="18" charset="0"/>
              </a:rPr>
              <a:t>Automate</a:t>
            </a:r>
            <a:r>
              <a:rPr lang="en-IN" sz="3600" spc="-38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spc="65">
                <a:latin typeface="Times New Roman" panose="02020603050405020304" pitchFamily="18" charset="0"/>
                <a:cs typeface="Times New Roman" panose="02020603050405020304" pitchFamily="18" charset="0"/>
              </a:rPr>
              <a:t>customer</a:t>
            </a:r>
            <a:r>
              <a:rPr lang="en-IN" sz="3600" spc="-38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spc="80">
                <a:latin typeface="Times New Roman" panose="02020603050405020304" pitchFamily="18" charset="0"/>
                <a:cs typeface="Times New Roman" panose="02020603050405020304" pitchFamily="18" charset="0"/>
              </a:rPr>
              <a:t>support</a:t>
            </a:r>
            <a:r>
              <a:rPr lang="en-IN" sz="3600" spc="-37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spc="9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en-IN" sz="3600" spc="-38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spc="110">
                <a:latin typeface="Times New Roman" panose="02020603050405020304" pitchFamily="18" charset="0"/>
                <a:cs typeface="Times New Roman" panose="02020603050405020304" pitchFamily="18" charset="0"/>
              </a:rPr>
              <a:t>open </a:t>
            </a:r>
            <a: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  <a:r>
              <a:rPr lang="en-IN" sz="3600" spc="-31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spc="-20">
                <a:latin typeface="Times New Roman" panose="02020603050405020304" pitchFamily="18" charset="0"/>
                <a:cs typeface="Times New Roman" panose="02020603050405020304" pitchFamily="18" charset="0"/>
              </a:rPr>
              <a:t>LLM.</a:t>
            </a:r>
            <a:endParaRPr lang="en-IN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Wingdings" panose="05000000000000000000" pitchFamily="2" charset="2"/>
              <a:buChar char="§"/>
            </a:pPr>
            <a:endParaRPr lang="en-US" sz="3600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7337D5-2237-770B-10D2-E09DBAC7D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682C8D1-B590-3DDD-3CF7-83C94293A521}"/>
              </a:ext>
            </a:extLst>
          </p:cNvPr>
          <p:cNvSpPr/>
          <p:nvPr/>
        </p:nvSpPr>
        <p:spPr>
          <a:xfrm>
            <a:off x="9583365" y="6257806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1FD0B2EB-5B92-895E-D8E3-40C738A0DABE}"/>
              </a:ext>
            </a:extLst>
          </p:cNvPr>
          <p:cNvSpPr/>
          <p:nvPr/>
        </p:nvSpPr>
        <p:spPr>
          <a:xfrm flipH="1" flipV="1">
            <a:off x="-3265860" y="-1023938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3B12F32C-5BBE-2A72-40FE-EE4DD87728A9}"/>
              </a:ext>
            </a:extLst>
          </p:cNvPr>
          <p:cNvSpPr/>
          <p:nvPr/>
        </p:nvSpPr>
        <p:spPr>
          <a:xfrm rot="-1749240">
            <a:off x="14107833" y="8613248"/>
            <a:ext cx="2252125" cy="1126062"/>
          </a:xfrm>
          <a:custGeom>
            <a:avLst/>
            <a:gdLst/>
            <a:ahLst/>
            <a:cxnLst/>
            <a:rect l="l" t="t" r="r" b="b"/>
            <a:pathLst>
              <a:path w="2252125" h="1126062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725AA303-C6BB-CC10-FE78-E420CDB59AB3}"/>
              </a:ext>
            </a:extLst>
          </p:cNvPr>
          <p:cNvSpPr/>
          <p:nvPr/>
        </p:nvSpPr>
        <p:spPr>
          <a:xfrm rot="-1749240" flipV="1">
            <a:off x="1905275" y="650043"/>
            <a:ext cx="2128989" cy="1064495"/>
          </a:xfrm>
          <a:custGeom>
            <a:avLst/>
            <a:gdLst/>
            <a:ahLst/>
            <a:cxnLst/>
            <a:rect l="l" t="t" r="r" b="b"/>
            <a:pathLst>
              <a:path w="2128989" h="1064495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5CE4A57E-8BE1-77F5-61B8-F129EE965DAB}"/>
              </a:ext>
            </a:extLst>
          </p:cNvPr>
          <p:cNvSpPr/>
          <p:nvPr/>
        </p:nvSpPr>
        <p:spPr>
          <a:xfrm>
            <a:off x="16491586" y="8853488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E162A581-E809-6370-1E43-484D85A71434}"/>
              </a:ext>
            </a:extLst>
          </p:cNvPr>
          <p:cNvSpPr/>
          <p:nvPr/>
        </p:nvSpPr>
        <p:spPr>
          <a:xfrm>
            <a:off x="-869488" y="-983397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CF19967A-2F9F-B0B9-D2C6-83EDDF3983DC}"/>
              </a:ext>
            </a:extLst>
          </p:cNvPr>
          <p:cNvSpPr txBox="1"/>
          <p:nvPr/>
        </p:nvSpPr>
        <p:spPr>
          <a:xfrm>
            <a:off x="5105400" y="566737"/>
            <a:ext cx="12145568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292"/>
              </a:lnSpc>
            </a:pPr>
            <a:r>
              <a:rPr lang="en-US" sz="8000" b="1" dirty="0">
                <a:solidFill>
                  <a:srgbClr val="03275A"/>
                </a:solidFill>
                <a:latin typeface="Times New Roman" panose="02020603050405020304" pitchFamily="18" charset="0"/>
                <a:ea typeface="Nunito Sans Bold"/>
                <a:cs typeface="Times New Roman" panose="02020603050405020304" pitchFamily="18" charset="0"/>
                <a:sym typeface="Nunito Sans Bold"/>
              </a:rPr>
              <a:t>LITERATURE SURVEY</a:t>
            </a:r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id="{196E0FFF-C68F-F43F-883B-97F0A89F3C34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16472" y="1797843"/>
            <a:ext cx="11894928" cy="685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52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583365" y="6257806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3265860" y="-1023938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749240">
            <a:off x="14107833" y="8613248"/>
            <a:ext cx="2252125" cy="1126062"/>
          </a:xfrm>
          <a:custGeom>
            <a:avLst/>
            <a:gdLst/>
            <a:ahLst/>
            <a:cxnLst/>
            <a:rect l="l" t="t" r="r" b="b"/>
            <a:pathLst>
              <a:path w="2252125" h="1126062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749240" flipV="1">
            <a:off x="1905275" y="650043"/>
            <a:ext cx="2128989" cy="1064495"/>
          </a:xfrm>
          <a:custGeom>
            <a:avLst/>
            <a:gdLst/>
            <a:ahLst/>
            <a:cxnLst/>
            <a:rect l="l" t="t" r="r" b="b"/>
            <a:pathLst>
              <a:path w="2128989" h="1064495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491586" y="8853488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869488" y="-983397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979084" y="211114"/>
            <a:ext cx="12962744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292"/>
              </a:lnSpc>
            </a:pPr>
            <a:r>
              <a:rPr lang="en-US" sz="8000" b="1" dirty="0">
                <a:solidFill>
                  <a:srgbClr val="03275A"/>
                </a:solidFill>
                <a:latin typeface="Times New Roman" panose="02020603050405020304" pitchFamily="18" charset="0"/>
                <a:ea typeface="Nunito Sans Bold"/>
                <a:cs typeface="Times New Roman" panose="02020603050405020304" pitchFamily="18" charset="0"/>
                <a:sym typeface="Nunito Sans Bold"/>
              </a:rPr>
              <a:t>PROBLEMS IDENTIFIED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133600" y="2999611"/>
            <a:ext cx="15251104" cy="428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84200" marR="5080" indent="-571500" algn="just">
              <a:lnSpc>
                <a:spcPct val="1171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n-US" sz="4800" spc="-30">
                <a:latin typeface="Times New Roman" panose="02020603050405020304" pitchFamily="18" charset="0"/>
                <a:cs typeface="Times New Roman" panose="02020603050405020304" pitchFamily="18" charset="0"/>
              </a:rPr>
              <a:t>Keyword-</a:t>
            </a:r>
            <a:r>
              <a:rPr lang="en-US" sz="4800" spc="65">
                <a:latin typeface="Times New Roman" panose="02020603050405020304" pitchFamily="18" charset="0"/>
                <a:cs typeface="Times New Roman" panose="02020603050405020304" pitchFamily="18" charset="0"/>
              </a:rPr>
              <a:t>based</a:t>
            </a:r>
            <a:r>
              <a:rPr lang="en-US" sz="4800" spc="-34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spc="-20">
                <a:latin typeface="Times New Roman" panose="02020603050405020304" pitchFamily="18" charset="0"/>
                <a:cs typeface="Times New Roman" panose="02020603050405020304" pitchFamily="18" charset="0"/>
              </a:rPr>
              <a:t>search</a:t>
            </a:r>
            <a:r>
              <a:rPr lang="en-US" sz="4800" spc="-32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spc="-95">
                <a:latin typeface="Times New Roman" panose="02020603050405020304" pitchFamily="18" charset="0"/>
                <a:cs typeface="Times New Roman" panose="02020603050405020304" pitchFamily="18" charset="0"/>
              </a:rPr>
              <a:t>fails</a:t>
            </a:r>
            <a:r>
              <a:rPr lang="en-US" sz="4800" spc="-31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4800" spc="-32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spc="75">
                <a:latin typeface="Times New Roman" panose="02020603050405020304" pitchFamily="18" charset="0"/>
                <a:cs typeface="Times New Roman" panose="02020603050405020304" pitchFamily="18" charset="0"/>
              </a:rPr>
              <a:t>understand</a:t>
            </a:r>
            <a:r>
              <a:rPr lang="en-US" sz="4800" spc="-32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spc="-20">
                <a:latin typeface="Times New Roman" panose="02020603050405020304" pitchFamily="18" charset="0"/>
                <a:cs typeface="Times New Roman" panose="02020603050405020304" pitchFamily="18" charset="0"/>
              </a:rPr>
              <a:t>user </a:t>
            </a:r>
            <a:r>
              <a:rPr lang="en-US" sz="4800" spc="-40">
                <a:latin typeface="Times New Roman" panose="02020603050405020304" pitchFamily="18" charset="0"/>
                <a:cs typeface="Times New Roman" panose="02020603050405020304" pitchFamily="18" charset="0"/>
              </a:rPr>
              <a:t>intent.</a:t>
            </a:r>
            <a:endParaRPr lang="en-US" sz="4800" spc="-33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84200" marR="5080" indent="-571500" algn="just">
              <a:lnSpc>
                <a:spcPct val="1171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n-US" sz="48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</a:t>
            </a:r>
            <a:r>
              <a:rPr lang="en-US" sz="4800" spc="-32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spc="65">
                <a:latin typeface="Times New Roman" panose="02020603050405020304" pitchFamily="18" charset="0"/>
                <a:cs typeface="Times New Roman" panose="02020603050405020304" pitchFamily="18" charset="0"/>
              </a:rPr>
              <a:t>chatbots</a:t>
            </a:r>
            <a:r>
              <a:rPr lang="en-US" sz="4800" spc="-32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>
                <a:latin typeface="Times New Roman" panose="02020603050405020304" pitchFamily="18" charset="0"/>
                <a:cs typeface="Times New Roman" panose="02020603050405020304" pitchFamily="18" charset="0"/>
              </a:rPr>
              <a:t>provide</a:t>
            </a:r>
            <a:r>
              <a:rPr lang="en-US" sz="4800" spc="-32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spc="80">
                <a:latin typeface="Times New Roman" panose="02020603050405020304" pitchFamily="18" charset="0"/>
                <a:cs typeface="Times New Roman" panose="02020603050405020304" pitchFamily="18" charset="0"/>
              </a:rPr>
              <a:t>limited</a:t>
            </a:r>
            <a:r>
              <a:rPr lang="en-US" sz="4800" spc="-32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spc="-20">
                <a:latin typeface="Times New Roman" panose="02020603050405020304" pitchFamily="18" charset="0"/>
                <a:cs typeface="Times New Roman" panose="02020603050405020304" pitchFamily="18" charset="0"/>
              </a:rPr>
              <a:t>rule </a:t>
            </a:r>
            <a:r>
              <a:rPr lang="en-US" sz="4800" spc="65">
                <a:latin typeface="Times New Roman" panose="02020603050405020304" pitchFamily="18" charset="0"/>
                <a:cs typeface="Times New Roman" panose="02020603050405020304" pitchFamily="18" charset="0"/>
              </a:rPr>
              <a:t>based</a:t>
            </a:r>
            <a:r>
              <a:rPr lang="en-US" sz="4800" spc="-28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spc="-85">
                <a:latin typeface="Times New Roman" panose="02020603050405020304" pitchFamily="18" charset="0"/>
                <a:cs typeface="Times New Roman" panose="02020603050405020304" pitchFamily="18" charset="0"/>
              </a:rPr>
              <a:t>responses.</a:t>
            </a:r>
            <a:endParaRPr lang="en-US" sz="4800" spc="-28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84200" marR="5080" indent="-571500" algn="just">
              <a:lnSpc>
                <a:spcPct val="1171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n-US" sz="4800">
                <a:latin typeface="Times New Roman" panose="02020603050405020304" pitchFamily="18" charset="0"/>
                <a:cs typeface="Times New Roman" panose="02020603050405020304" pitchFamily="18" charset="0"/>
              </a:rPr>
              <a:t>Customers</a:t>
            </a:r>
            <a:r>
              <a:rPr lang="en-US" sz="4800" spc="-28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spc="-35">
                <a:latin typeface="Times New Roman" panose="02020603050405020304" pitchFamily="18" charset="0"/>
                <a:cs typeface="Times New Roman" panose="02020603050405020304" pitchFamily="18" charset="0"/>
              </a:rPr>
              <a:t>receive</a:t>
            </a:r>
            <a:r>
              <a:rPr lang="en-US" sz="4800" spc="-28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irrelevant </a:t>
            </a:r>
            <a:r>
              <a:rPr lang="en-US" sz="4800" spc="5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recommendations.</a:t>
            </a:r>
            <a:r>
              <a:rPr lang="en-US" sz="4800" spc="-37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84200" marR="5080" indent="-571500" algn="just">
              <a:lnSpc>
                <a:spcPct val="1171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n-US" sz="4800" spc="75">
                <a:latin typeface="Times New Roman" panose="02020603050405020304" pitchFamily="18" charset="0"/>
                <a:cs typeface="Times New Roman" panose="02020603050405020304" pitchFamily="18" charset="0"/>
              </a:rPr>
              <a:t>Lack</a:t>
            </a:r>
            <a:r>
              <a:rPr lang="en-US" sz="4800" spc="-37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4800" spc="-37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spc="5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</a:t>
            </a:r>
            <a:r>
              <a:rPr lang="en-US" sz="4800" spc="-37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spc="110">
                <a:latin typeface="Times New Roman" panose="02020603050405020304" pitchFamily="18" charset="0"/>
                <a:cs typeface="Times New Roman" panose="02020603050405020304" pitchFamily="18" charset="0"/>
              </a:rPr>
              <a:t>between </a:t>
            </a:r>
            <a:r>
              <a:rPr lang="en-US" sz="4800">
                <a:latin typeface="Times New Roman" panose="02020603050405020304" pitchFamily="18" charset="0"/>
                <a:cs typeface="Times New Roman" panose="02020603050405020304" pitchFamily="18" charset="0"/>
              </a:rPr>
              <a:t>conversational</a:t>
            </a:r>
            <a:r>
              <a:rPr lang="en-US" sz="4800" spc="-39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spc="-195"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  <a:r>
              <a:rPr lang="en-US" sz="4800" spc="-39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spc="135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4800" spc="-39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spc="80">
                <a:latin typeface="Times New Roman" panose="02020603050405020304" pitchFamily="18" charset="0"/>
                <a:cs typeface="Times New Roman" panose="02020603050405020304" pitchFamily="18" charset="0"/>
              </a:rPr>
              <a:t>semantic</a:t>
            </a:r>
            <a:r>
              <a:rPr lang="en-US" sz="4800" spc="-39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spc="120">
                <a:latin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  <a:r>
              <a:rPr lang="en-US" sz="4800" spc="-39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search</a:t>
            </a:r>
            <a:endParaRPr lang="en-US" sz="4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583365" y="6257806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3265860" y="-1023938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749240">
            <a:off x="14107833" y="8613248"/>
            <a:ext cx="2252125" cy="1126062"/>
          </a:xfrm>
          <a:custGeom>
            <a:avLst/>
            <a:gdLst/>
            <a:ahLst/>
            <a:cxnLst/>
            <a:rect l="l" t="t" r="r" b="b"/>
            <a:pathLst>
              <a:path w="2252125" h="1126062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749240" flipV="1">
            <a:off x="1905275" y="650043"/>
            <a:ext cx="2128989" cy="1064495"/>
          </a:xfrm>
          <a:custGeom>
            <a:avLst/>
            <a:gdLst/>
            <a:ahLst/>
            <a:cxnLst/>
            <a:rect l="l" t="t" r="r" b="b"/>
            <a:pathLst>
              <a:path w="2128989" h="1064495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491586" y="8853488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869488" y="-983397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544475" y="503891"/>
            <a:ext cx="11831962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92"/>
              </a:lnSpc>
            </a:pPr>
            <a:r>
              <a:rPr lang="en-US" sz="8000" b="1" dirty="0">
                <a:solidFill>
                  <a:srgbClr val="03275A"/>
                </a:solidFill>
                <a:latin typeface="Times New Roman" panose="02020603050405020304" pitchFamily="18" charset="0"/>
                <a:ea typeface="Nunito Sans Bold"/>
                <a:cs typeface="Times New Roman" panose="02020603050405020304" pitchFamily="18" charset="0"/>
                <a:sym typeface="Nunito Sans Bold"/>
              </a:rPr>
              <a:t>EXISTING SYSTEM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95093" y="2452480"/>
            <a:ext cx="15345107" cy="5755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 algn="just">
              <a:buFont typeface="Wingdings" panose="05000000000000000000" pitchFamily="2" charset="2"/>
              <a:buChar char="§"/>
            </a:pPr>
            <a:r>
              <a:rPr lang="en-US" sz="3400">
                <a:latin typeface="Times New Roman" panose="02020603050405020304" pitchFamily="18" charset="0"/>
                <a:cs typeface="Times New Roman" panose="02020603050405020304" pitchFamily="18" charset="0"/>
              </a:rPr>
              <a:t>The existing system in most e-commerce platforms is based on keyword-based SQL search, static FAQ chatbots, and manual recommendation systems.</a:t>
            </a:r>
          </a:p>
          <a:p>
            <a:pPr marL="571500" indent="-571500" algn="just">
              <a:buFont typeface="Wingdings" panose="05000000000000000000" pitchFamily="2" charset="2"/>
              <a:buChar char="§"/>
            </a:pPr>
            <a:r>
              <a:rPr lang="en-US" sz="3400">
                <a:latin typeface="Times New Roman" panose="02020603050405020304" pitchFamily="18" charset="0"/>
                <a:cs typeface="Times New Roman" panose="02020603050405020304" pitchFamily="18" charset="0"/>
              </a:rPr>
              <a:t> These systems match user queries with exact keywords in the database, which often leads to irrelevant results when the wording of the query changes.</a:t>
            </a:r>
          </a:p>
          <a:p>
            <a:pPr marL="571500" indent="-571500" algn="just">
              <a:buFont typeface="Wingdings" panose="05000000000000000000" pitchFamily="2" charset="2"/>
              <a:buChar char="§"/>
            </a:pPr>
            <a:r>
              <a:rPr lang="en-US" sz="3400">
                <a:latin typeface="Times New Roman" panose="02020603050405020304" pitchFamily="18" charset="0"/>
                <a:cs typeface="Times New Roman" panose="02020603050405020304" pitchFamily="18" charset="0"/>
              </a:rPr>
              <a:t> Static chatbots provide predefined responses and fail to handle variations or complex queries. Manual recommendation systems do not consider user preferences dynamically, resulting in generic suggestions.</a:t>
            </a:r>
          </a:p>
          <a:p>
            <a:pPr marL="571500" indent="-571500" algn="just">
              <a:buFont typeface="Wingdings" panose="05000000000000000000" pitchFamily="2" charset="2"/>
              <a:buChar char="§"/>
            </a:pPr>
            <a:r>
              <a:rPr lang="en-US" sz="3400">
                <a:latin typeface="Times New Roman" panose="02020603050405020304" pitchFamily="18" charset="0"/>
                <a:cs typeface="Times New Roman" panose="02020603050405020304" pitchFamily="18" charset="0"/>
              </a:rPr>
              <a:t> Additionally, the system lacks semantic understanding and does not use vector similarity search, making it unable to interpret user intent effectively.</a:t>
            </a:r>
          </a:p>
          <a:p>
            <a:pPr marL="571500" indent="-571500" algn="just">
              <a:buFont typeface="Wingdings" panose="05000000000000000000" pitchFamily="2" charset="2"/>
              <a:buChar char="§"/>
            </a:pPr>
            <a:r>
              <a:rPr lang="en-US" sz="340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existing system is limited, less flexible, and unable to provide accurate and personalized responses.</a:t>
            </a:r>
            <a:endParaRPr lang="en-IN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FBEF5F-0ACC-993E-C72F-8613C902D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3DF0793-EFD1-AC01-6EDB-AA9520398F0E}"/>
              </a:ext>
            </a:extLst>
          </p:cNvPr>
          <p:cNvSpPr/>
          <p:nvPr/>
        </p:nvSpPr>
        <p:spPr>
          <a:xfrm>
            <a:off x="9583365" y="6257806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FCD2461-1E4C-0BFE-FE83-848B6665C527}"/>
              </a:ext>
            </a:extLst>
          </p:cNvPr>
          <p:cNvSpPr/>
          <p:nvPr/>
        </p:nvSpPr>
        <p:spPr>
          <a:xfrm flipH="1" flipV="1">
            <a:off x="-3265860" y="-1023938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C7B28F9A-1A09-4A0D-36E8-B759D89FD3C9}"/>
              </a:ext>
            </a:extLst>
          </p:cNvPr>
          <p:cNvSpPr/>
          <p:nvPr/>
        </p:nvSpPr>
        <p:spPr>
          <a:xfrm rot="-1749240">
            <a:off x="14107833" y="8613248"/>
            <a:ext cx="2252125" cy="1126062"/>
          </a:xfrm>
          <a:custGeom>
            <a:avLst/>
            <a:gdLst/>
            <a:ahLst/>
            <a:cxnLst/>
            <a:rect l="l" t="t" r="r" b="b"/>
            <a:pathLst>
              <a:path w="2252125" h="1126062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782AA645-29AF-540A-7A19-435CE81C8E50}"/>
              </a:ext>
            </a:extLst>
          </p:cNvPr>
          <p:cNvSpPr/>
          <p:nvPr/>
        </p:nvSpPr>
        <p:spPr>
          <a:xfrm rot="-1749240" flipV="1">
            <a:off x="1905275" y="650043"/>
            <a:ext cx="2128989" cy="1064495"/>
          </a:xfrm>
          <a:custGeom>
            <a:avLst/>
            <a:gdLst/>
            <a:ahLst/>
            <a:cxnLst/>
            <a:rect l="l" t="t" r="r" b="b"/>
            <a:pathLst>
              <a:path w="2128989" h="1064495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37EF8968-EAA5-B8CF-D0EB-765DDAED14E8}"/>
              </a:ext>
            </a:extLst>
          </p:cNvPr>
          <p:cNvSpPr/>
          <p:nvPr/>
        </p:nvSpPr>
        <p:spPr>
          <a:xfrm>
            <a:off x="16491586" y="8853488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757022D0-5181-CEE9-F90C-81F451F2A7CB}"/>
              </a:ext>
            </a:extLst>
          </p:cNvPr>
          <p:cNvSpPr/>
          <p:nvPr/>
        </p:nvSpPr>
        <p:spPr>
          <a:xfrm>
            <a:off x="-869488" y="-983397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9B02E477-5E66-DAF2-6FB1-F2A1C3A5036A}"/>
              </a:ext>
            </a:extLst>
          </p:cNvPr>
          <p:cNvSpPr txBox="1"/>
          <p:nvPr/>
        </p:nvSpPr>
        <p:spPr>
          <a:xfrm>
            <a:off x="5181600" y="503891"/>
            <a:ext cx="10998524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92"/>
              </a:lnSpc>
            </a:pPr>
            <a:r>
              <a:rPr lang="en-US" sz="8000" b="1" dirty="0">
                <a:solidFill>
                  <a:srgbClr val="03275A"/>
                </a:solidFill>
                <a:latin typeface="Times New Roman" panose="02020603050405020304" pitchFamily="18" charset="0"/>
                <a:ea typeface="Nunito Sans Bold"/>
                <a:cs typeface="Times New Roman" panose="02020603050405020304" pitchFamily="18" charset="0"/>
                <a:sym typeface="Nunito Sans Bold"/>
              </a:rPr>
              <a:t>DISADVANTAGES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AAED34-1646-6BD7-AEE5-F015DE97B922}"/>
              </a:ext>
            </a:extLst>
          </p:cNvPr>
          <p:cNvSpPr txBox="1"/>
          <p:nvPr/>
        </p:nvSpPr>
        <p:spPr>
          <a:xfrm>
            <a:off x="1765603" y="2365694"/>
            <a:ext cx="13840157" cy="7417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Font typeface="Wingdings" panose="05000000000000000000" pitchFamily="2" charset="2"/>
              <a:buChar char="§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systems don't cover large or remote areas well.</a:t>
            </a:r>
          </a:p>
          <a:p>
            <a:pPr marL="571500" indent="-571500" algn="just">
              <a:buFont typeface="Wingdings" panose="05000000000000000000" pitchFamily="2" charset="2"/>
              <a:buChar char="§"/>
            </a:pP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Wingdings" panose="05000000000000000000" pitchFamily="2" charset="2"/>
              <a:buChar char="§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 a long time to collect, transport, and analyze samples</a:t>
            </a:r>
          </a:p>
          <a:p>
            <a:pPr marL="571500" indent="-571500" algn="just">
              <a:buFont typeface="Wingdings" panose="05000000000000000000" pitchFamily="2" charset="2"/>
              <a:buChar char="§"/>
            </a:pP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Wingdings" panose="05000000000000000000" pitchFamily="2" charset="2"/>
              <a:buChar char="§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Relying on fixed stations leading to uneven coverage.</a:t>
            </a:r>
          </a:p>
          <a:p>
            <a:pPr marL="571500" indent="-571500" algn="just">
              <a:buFont typeface="Wingdings" panose="05000000000000000000" pitchFamily="2" charset="2"/>
              <a:buChar char="§"/>
            </a:pP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Wingdings" panose="05000000000000000000" pitchFamily="2" charset="2"/>
              <a:buChar char="§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algorithms lead to inaccurate predictions.</a:t>
            </a:r>
          </a:p>
          <a:p>
            <a:pPr marL="571500" indent="-571500" algn="just">
              <a:buFont typeface="Wingdings" panose="05000000000000000000" pitchFamily="2" charset="2"/>
              <a:buChar char="§"/>
            </a:pP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Wingdings" panose="05000000000000000000" pitchFamily="2" charset="2"/>
              <a:buChar char="§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 Complexity.</a:t>
            </a:r>
          </a:p>
          <a:p>
            <a:pPr marL="571500" indent="-571500" algn="just">
              <a:buFont typeface="Wingdings" panose="05000000000000000000" pitchFamily="2" charset="2"/>
              <a:buChar char="§"/>
            </a:pP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Wingdings" panose="05000000000000000000" pitchFamily="2" charset="2"/>
              <a:buChar char="§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models need large, high-quality datasets for accuracy</a:t>
            </a:r>
            <a:r>
              <a:rPr lang="en-US" sz="3600" dirty="0"/>
              <a:t>.</a:t>
            </a:r>
            <a:endParaRPr lang="en-IN" sz="3600" dirty="0">
              <a:cs typeface="Times New Roman" panose="02020603050405020304" pitchFamily="18" charset="0"/>
            </a:endParaRPr>
          </a:p>
          <a:p>
            <a:pPr marL="571500" indent="-571500" algn="just">
              <a:buFont typeface="Wingdings" panose="05000000000000000000" pitchFamily="2" charset="2"/>
              <a:buChar char="§"/>
            </a:pP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219001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583365" y="6257806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3265860" y="-1023938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749240">
            <a:off x="14107833" y="8613248"/>
            <a:ext cx="2252125" cy="1126062"/>
          </a:xfrm>
          <a:custGeom>
            <a:avLst/>
            <a:gdLst/>
            <a:ahLst/>
            <a:cxnLst/>
            <a:rect l="l" t="t" r="r" b="b"/>
            <a:pathLst>
              <a:path w="2252125" h="1126062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749240" flipV="1">
            <a:off x="1905275" y="650043"/>
            <a:ext cx="2128989" cy="1064495"/>
          </a:xfrm>
          <a:custGeom>
            <a:avLst/>
            <a:gdLst/>
            <a:ahLst/>
            <a:cxnLst/>
            <a:rect l="l" t="t" r="r" b="b"/>
            <a:pathLst>
              <a:path w="2128989" h="1064495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491586" y="8853488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869488" y="-983397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715000" y="342900"/>
            <a:ext cx="10998524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92"/>
              </a:lnSpc>
            </a:pPr>
            <a:r>
              <a:rPr lang="en-US" sz="8000" b="1" dirty="0">
                <a:solidFill>
                  <a:srgbClr val="03275A"/>
                </a:solidFill>
                <a:latin typeface="Times New Roman" panose="02020603050405020304" pitchFamily="18" charset="0"/>
                <a:ea typeface="Nunito Sans Bold"/>
                <a:cs typeface="Times New Roman" panose="02020603050405020304" pitchFamily="18" charset="0"/>
                <a:sym typeface="Nunito Sans Bold"/>
              </a:rPr>
              <a:t>PROPOSED SYSTEM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96413" y="3127861"/>
            <a:ext cx="15379397" cy="52867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lang="en-IN" sz="440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IN" sz="4400" spc="-34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400" spc="50">
                <a:latin typeface="Times New Roman" panose="02020603050405020304" pitchFamily="18" charset="0"/>
                <a:cs typeface="Times New Roman" panose="02020603050405020304" pitchFamily="18" charset="0"/>
              </a:rPr>
              <a:t>proposed</a:t>
            </a:r>
            <a:r>
              <a:rPr lang="en-IN" sz="4400" spc="-33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400" spc="-5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IN" sz="4400" spc="-33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4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integrates:</a:t>
            </a:r>
            <a:endParaRPr lang="en-IN" sz="4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84200" marR="5080" indent="-571500">
              <a:lnSpc>
                <a:spcPct val="114799"/>
              </a:lnSpc>
              <a:buFont typeface="Arial" panose="020B0604020202020204" pitchFamily="34" charset="0"/>
              <a:buChar char="•"/>
            </a:pPr>
            <a:r>
              <a:rPr lang="en-IN" sz="4400">
                <a:latin typeface="Times New Roman" panose="02020603050405020304" pitchFamily="18" charset="0"/>
                <a:cs typeface="Times New Roman" panose="02020603050405020304" pitchFamily="18" charset="0"/>
              </a:rPr>
              <a:t>Fresh</a:t>
            </a:r>
            <a:r>
              <a:rPr lang="en-IN" sz="4400" spc="-27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400">
                <a:latin typeface="Times New Roman" panose="02020603050405020304" pitchFamily="18" charset="0"/>
                <a:cs typeface="Times New Roman" panose="02020603050405020304" pitchFamily="18" charset="0"/>
              </a:rPr>
              <a:t>Chat</a:t>
            </a:r>
            <a:r>
              <a:rPr lang="en-IN" sz="4400" spc="-26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4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en-IN" sz="4400" spc="-27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400" spc="-6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IN" sz="4400" spc="-26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400" spc="-35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en-IN" sz="4400" spc="-26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400">
                <a:latin typeface="Times New Roman" panose="02020603050405020304" pitchFamily="18" charset="0"/>
                <a:cs typeface="Times New Roman" panose="02020603050405020304" pitchFamily="18" charset="0"/>
              </a:rPr>
              <a:t>interaction</a:t>
            </a:r>
            <a:r>
              <a:rPr lang="en-IN" sz="4400" spc="-27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400" spc="95">
                <a:latin typeface="Times New Roman" panose="02020603050405020304" pitchFamily="18" charset="0"/>
                <a:cs typeface="Times New Roman" panose="02020603050405020304" pitchFamily="18" charset="0"/>
              </a:rPr>
              <a:t>Django </a:t>
            </a:r>
            <a:r>
              <a:rPr lang="en-IN" sz="4400" spc="75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r>
              <a:rPr lang="en-IN" sz="4400" spc="-27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400" spc="-6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IN" sz="4400" spc="-26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400">
                <a:latin typeface="Times New Roman" panose="02020603050405020304" pitchFamily="18" charset="0"/>
                <a:cs typeface="Times New Roman" panose="02020603050405020304" pitchFamily="18" charset="0"/>
              </a:rPr>
              <a:t>processing</a:t>
            </a:r>
            <a:r>
              <a:rPr lang="en-IN" sz="4400" spc="-26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400" spc="70">
                <a:latin typeface="Times New Roman" panose="02020603050405020304" pitchFamily="18" charset="0"/>
                <a:cs typeface="Times New Roman" panose="02020603050405020304" pitchFamily="18" charset="0"/>
              </a:rPr>
              <a:t>logic</a:t>
            </a:r>
            <a:r>
              <a:rPr lang="en-IN" sz="4400" spc="-26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400">
                <a:latin typeface="Times New Roman" panose="02020603050405020304" pitchFamily="18" charset="0"/>
                <a:cs typeface="Times New Roman" panose="02020603050405020304" pitchFamily="18" charset="0"/>
              </a:rPr>
              <a:t>Sentence</a:t>
            </a:r>
            <a:r>
              <a:rPr lang="en-IN" sz="4400" spc="-26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4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 </a:t>
            </a:r>
            <a:r>
              <a:rPr lang="en-IN" sz="4400" spc="-6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IN" sz="4400" spc="-19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400" spc="140">
                <a:latin typeface="Times New Roman" panose="02020603050405020304" pitchFamily="18" charset="0"/>
                <a:cs typeface="Times New Roman" panose="02020603050405020304" pitchFamily="18" charset="0"/>
              </a:rPr>
              <a:t>embedding</a:t>
            </a:r>
            <a:r>
              <a:rPr lang="en-IN" sz="4400" spc="-19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400">
                <a:latin typeface="Times New Roman" panose="02020603050405020304" pitchFamily="18" charset="0"/>
                <a:cs typeface="Times New Roman" panose="02020603050405020304" pitchFamily="18" charset="0"/>
              </a:rPr>
              <a:t>generation</a:t>
            </a:r>
            <a:r>
              <a:rPr lang="en-IN" sz="4400" spc="-19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400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en-IN" sz="4400" spc="-19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400" spc="85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IN" sz="4400" spc="-19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4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pgvector </a:t>
            </a:r>
            <a:r>
              <a:rPr lang="en-IN" sz="4400" spc="-6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IN" sz="4400" spc="-32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400" spc="50">
                <a:latin typeface="Times New Roman" panose="02020603050405020304" pitchFamily="18" charset="0"/>
                <a:cs typeface="Times New Roman" panose="02020603050405020304" pitchFamily="18" charset="0"/>
              </a:rPr>
              <a:t>semantic</a:t>
            </a:r>
            <a:r>
              <a:rPr lang="en-IN" sz="4400" spc="-31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400" spc="-45">
                <a:latin typeface="Times New Roman" panose="02020603050405020304" pitchFamily="18" charset="0"/>
                <a:cs typeface="Times New Roman" panose="02020603050405020304" pitchFamily="18" charset="0"/>
              </a:rPr>
              <a:t>similarity</a:t>
            </a:r>
            <a:r>
              <a:rPr lang="en-IN" sz="4400" spc="-31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4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search.</a:t>
            </a:r>
          </a:p>
          <a:p>
            <a:pPr marL="584200" marR="5080" indent="-571500">
              <a:lnSpc>
                <a:spcPct val="114799"/>
              </a:lnSpc>
              <a:buFont typeface="Arial" panose="020B0604020202020204" pitchFamily="34" charset="0"/>
              <a:buChar char="•"/>
            </a:pPr>
            <a:r>
              <a:rPr lang="en-IN" sz="4400">
                <a:latin typeface="Times New Roman" panose="02020603050405020304" pitchFamily="18" charset="0"/>
                <a:cs typeface="Times New Roman" panose="02020603050405020304" pitchFamily="18" charset="0"/>
              </a:rPr>
              <a:t>Open-source</a:t>
            </a:r>
            <a:r>
              <a:rPr lang="en-IN" sz="4400" spc="-29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400" spc="210">
                <a:latin typeface="Times New Roman" panose="02020603050405020304" pitchFamily="18" charset="0"/>
                <a:cs typeface="Times New Roman" panose="02020603050405020304" pitchFamily="18" charset="0"/>
              </a:rPr>
              <a:t>LLM</a:t>
            </a:r>
            <a:r>
              <a:rPr lang="en-IN" sz="4400" spc="-29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400" spc="-6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IN" sz="4400" spc="-28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400">
                <a:latin typeface="Times New Roman" panose="02020603050405020304" pitchFamily="18" charset="0"/>
                <a:cs typeface="Times New Roman" panose="02020603050405020304" pitchFamily="18" charset="0"/>
              </a:rPr>
              <a:t>natural</a:t>
            </a:r>
            <a:r>
              <a:rPr lang="en-IN" sz="4400" spc="-29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4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response</a:t>
            </a:r>
            <a:r>
              <a:rPr lang="en-IN" sz="4400" spc="-28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4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generation .</a:t>
            </a:r>
          </a:p>
          <a:p>
            <a:pPr marL="584200" marR="5080" indent="-571500">
              <a:lnSpc>
                <a:spcPct val="114799"/>
              </a:lnSpc>
              <a:buFont typeface="Arial" panose="020B0604020202020204" pitchFamily="34" charset="0"/>
              <a:buChar char="•"/>
            </a:pPr>
            <a:r>
              <a:rPr lang="en-IN" sz="4400" spc="-6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IN" sz="4400" spc="-29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400">
                <a:latin typeface="Times New Roman" panose="02020603050405020304" pitchFamily="18" charset="0"/>
                <a:cs typeface="Times New Roman" panose="02020603050405020304" pitchFamily="18" charset="0"/>
              </a:rPr>
              <a:t>enables</a:t>
            </a:r>
            <a:r>
              <a:rPr lang="en-IN" sz="4400" spc="-28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400" spc="-50">
                <a:latin typeface="Times New Roman" panose="02020603050405020304" pitchFamily="18" charset="0"/>
                <a:cs typeface="Times New Roman" panose="02020603050405020304" pitchFamily="18" charset="0"/>
              </a:rPr>
              <a:t>context-</a:t>
            </a:r>
            <a:r>
              <a:rPr lang="en-IN" sz="4400" spc="-35">
                <a:latin typeface="Times New Roman" panose="02020603050405020304" pitchFamily="18" charset="0"/>
                <a:cs typeface="Times New Roman" panose="02020603050405020304" pitchFamily="18" charset="0"/>
              </a:rPr>
              <a:t>aware</a:t>
            </a:r>
            <a:r>
              <a:rPr lang="en-IN" sz="4400" spc="-29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400" spc="85">
                <a:latin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  <a:r>
              <a:rPr lang="en-IN" sz="4400" spc="-28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400" spc="-35">
                <a:latin typeface="Times New Roman" panose="02020603050405020304" pitchFamily="18" charset="0"/>
                <a:cs typeface="Times New Roman" panose="02020603050405020304" pitchFamily="18" charset="0"/>
              </a:rPr>
              <a:t>search</a:t>
            </a:r>
            <a:r>
              <a:rPr lang="en-IN" sz="4400" spc="-29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400" spc="7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IN" sz="4400" spc="-20">
                <a:latin typeface="Times New Roman" panose="02020603050405020304" pitchFamily="18" charset="0"/>
                <a:cs typeface="Times New Roman" panose="02020603050405020304" pitchFamily="18" charset="0"/>
              </a:rPr>
              <a:t>conversational</a:t>
            </a:r>
            <a:r>
              <a:rPr lang="en-IN" sz="4400" spc="-27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4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support.</a:t>
            </a:r>
            <a:endParaRPr lang="en-IN" sz="4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583365" y="6257806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3265860" y="-1023938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749240">
            <a:off x="14107833" y="8613248"/>
            <a:ext cx="2252125" cy="1126062"/>
          </a:xfrm>
          <a:custGeom>
            <a:avLst/>
            <a:gdLst/>
            <a:ahLst/>
            <a:cxnLst/>
            <a:rect l="l" t="t" r="r" b="b"/>
            <a:pathLst>
              <a:path w="2252125" h="1126062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749240" flipV="1">
            <a:off x="1905275" y="650043"/>
            <a:ext cx="2128989" cy="1064495"/>
          </a:xfrm>
          <a:custGeom>
            <a:avLst/>
            <a:gdLst/>
            <a:ahLst/>
            <a:cxnLst/>
            <a:rect l="l" t="t" r="r" b="b"/>
            <a:pathLst>
              <a:path w="2128989" h="1064495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491586" y="8853488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869488" y="-983397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C27C7117-D08D-774F-8813-BD96CC5C67E3}"/>
              </a:ext>
            </a:extLst>
          </p:cNvPr>
          <p:cNvSpPr txBox="1"/>
          <p:nvPr/>
        </p:nvSpPr>
        <p:spPr>
          <a:xfrm>
            <a:off x="5181600" y="503891"/>
            <a:ext cx="10998524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92"/>
              </a:lnSpc>
            </a:pPr>
            <a:r>
              <a:rPr lang="en-US" sz="8000" b="1" dirty="0">
                <a:solidFill>
                  <a:srgbClr val="03275A"/>
                </a:solidFill>
                <a:latin typeface="Times New Roman" panose="02020603050405020304" pitchFamily="18" charset="0"/>
                <a:ea typeface="Nunito Sans Bold"/>
                <a:cs typeface="Times New Roman" panose="02020603050405020304" pitchFamily="18" charset="0"/>
                <a:sym typeface="Nunito Sans Bold"/>
              </a:rPr>
              <a:t>ADVANTAGES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A76955-4FAE-5FB3-B863-C823CED0E805}"/>
              </a:ext>
            </a:extLst>
          </p:cNvPr>
          <p:cNvSpPr txBox="1"/>
          <p:nvPr/>
        </p:nvSpPr>
        <p:spPr>
          <a:xfrm>
            <a:off x="1809146" y="3359128"/>
            <a:ext cx="14144957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Font typeface="Wingdings" panose="05000000000000000000" pitchFamily="2" charset="2"/>
              <a:buChar char="§"/>
            </a:pPr>
            <a:r>
              <a:rPr lang="en-IN" sz="4000">
                <a:latin typeface="Times New Roman" panose="02020603050405020304" pitchFamily="18" charset="0"/>
                <a:cs typeface="Times New Roman" panose="02020603050405020304" pitchFamily="18" charset="0"/>
              </a:rPr>
              <a:t>Understands user intent using semantic embeddings instead of basic keyword matching. </a:t>
            </a:r>
          </a:p>
          <a:p>
            <a:pPr marL="571500" indent="-571500" algn="just">
              <a:buFont typeface="Wingdings" panose="05000000000000000000" pitchFamily="2" charset="2"/>
              <a:buChar char="§"/>
            </a:pPr>
            <a:r>
              <a:rPr lang="en-IN" sz="4000">
                <a:latin typeface="Times New Roman" panose="02020603050405020304" pitchFamily="18" charset="0"/>
                <a:cs typeface="Times New Roman" panose="02020603050405020304" pitchFamily="18" charset="0"/>
              </a:rPr>
              <a:t>Retrieves accurate products using vector similarity (pgvector), reducing irrelevant results. </a:t>
            </a:r>
          </a:p>
          <a:p>
            <a:pPr marL="571500" indent="-571500" algn="just">
              <a:buFont typeface="Wingdings" panose="05000000000000000000" pitchFamily="2" charset="2"/>
              <a:buChar char="§"/>
            </a:pPr>
            <a:r>
              <a:rPr lang="en-IN" sz="4000">
                <a:latin typeface="Times New Roman" panose="02020603050405020304" pitchFamily="18" charset="0"/>
                <a:cs typeface="Times New Roman" panose="02020603050405020304" pitchFamily="18" charset="0"/>
              </a:rPr>
              <a:t>Chatbot + LLM provides natural, human-like interaction instead of static search results. </a:t>
            </a:r>
          </a:p>
          <a:p>
            <a:pPr marL="571500" indent="-571500" algn="just">
              <a:buFont typeface="Wingdings" panose="05000000000000000000" pitchFamily="2" charset="2"/>
              <a:buChar char="§"/>
            </a:pPr>
            <a:r>
              <a:rPr lang="en-IN" sz="4000">
                <a:latin typeface="Times New Roman" panose="02020603050405020304" pitchFamily="18" charset="0"/>
                <a:cs typeface="Times New Roman" panose="02020603050405020304" pitchFamily="18" charset="0"/>
              </a:rPr>
              <a:t>Django + PostgreSQL enables fast processing and handles large product datasets effectively.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583365" y="6257806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3265860" y="-1023938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749240">
            <a:off x="14107833" y="8613248"/>
            <a:ext cx="2252125" cy="1126062"/>
          </a:xfrm>
          <a:custGeom>
            <a:avLst/>
            <a:gdLst/>
            <a:ahLst/>
            <a:cxnLst/>
            <a:rect l="l" t="t" r="r" b="b"/>
            <a:pathLst>
              <a:path w="2252125" h="1126062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749240" flipV="1">
            <a:off x="1905275" y="650043"/>
            <a:ext cx="2128989" cy="1064495"/>
          </a:xfrm>
          <a:custGeom>
            <a:avLst/>
            <a:gdLst/>
            <a:ahLst/>
            <a:cxnLst/>
            <a:rect l="l" t="t" r="r" b="b"/>
            <a:pathLst>
              <a:path w="2128989" h="1064495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491586" y="8853488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869488" y="-983397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463136" y="365161"/>
            <a:ext cx="13443863" cy="1207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292"/>
              </a:lnSpc>
            </a:pPr>
            <a:r>
              <a:rPr lang="en-US" sz="7200" b="1" dirty="0">
                <a:solidFill>
                  <a:srgbClr val="03275A"/>
                </a:solidFill>
                <a:latin typeface="Times New Roman" panose="02020603050405020304" pitchFamily="18" charset="0"/>
                <a:ea typeface="Nunito Sans Bold"/>
                <a:cs typeface="Times New Roman" panose="02020603050405020304" pitchFamily="18" charset="0"/>
                <a:sym typeface="Nunito Sans Bold"/>
              </a:rPr>
              <a:t>SOFTWARE REQUIREMENTS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25573" y="1877814"/>
            <a:ext cx="15820587" cy="82407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600">
                <a:latin typeface="Times New Roman" panose="02020603050405020304" pitchFamily="18" charset="0"/>
                <a:ea typeface="Amiko"/>
                <a:cs typeface="Times New Roman" panose="02020603050405020304" pitchFamily="18" charset="0"/>
                <a:sym typeface="Amiko"/>
              </a:rPr>
              <a:t>Language   :Python 3.10+</a:t>
            </a:r>
          </a:p>
          <a:p>
            <a:pPr algn="just">
              <a:lnSpc>
                <a:spcPct val="150000"/>
              </a:lnSpc>
            </a:pPr>
            <a:r>
              <a:rPr lang="en-US" sz="3600">
                <a:latin typeface="Times New Roman" panose="02020603050405020304" pitchFamily="18" charset="0"/>
                <a:ea typeface="Amiko"/>
                <a:cs typeface="Times New Roman" panose="02020603050405020304" pitchFamily="18" charset="0"/>
                <a:sym typeface="Amiko"/>
              </a:rPr>
              <a:t>Design        : HTML, CSS, Bootstrap</a:t>
            </a:r>
          </a:p>
          <a:p>
            <a:pPr algn="just">
              <a:lnSpc>
                <a:spcPct val="150000"/>
              </a:lnSpc>
            </a:pPr>
            <a:r>
              <a:rPr lang="en-US" sz="3600">
                <a:latin typeface="Times New Roman" panose="02020603050405020304" pitchFamily="18" charset="0"/>
                <a:ea typeface="Amiko"/>
                <a:cs typeface="Times New Roman" panose="02020603050405020304" pitchFamily="18" charset="0"/>
                <a:sym typeface="Amiko"/>
              </a:rPr>
              <a:t>IDE              : VS Code / PyCharm</a:t>
            </a:r>
          </a:p>
          <a:p>
            <a:pPr algn="just">
              <a:lnSpc>
                <a:spcPct val="150000"/>
              </a:lnSpc>
            </a:pPr>
            <a:r>
              <a:rPr lang="en-US" sz="3600">
                <a:latin typeface="Times New Roman" panose="02020603050405020304" pitchFamily="18" charset="0"/>
                <a:ea typeface="Amiko"/>
                <a:cs typeface="Times New Roman" panose="02020603050405020304" pitchFamily="18" charset="0"/>
                <a:sym typeface="Amiko"/>
              </a:rPr>
              <a:t>Web Framework: Django</a:t>
            </a:r>
          </a:p>
          <a:p>
            <a:pPr algn="just">
              <a:lnSpc>
                <a:spcPct val="150000"/>
              </a:lnSpc>
            </a:pPr>
            <a:r>
              <a:rPr lang="en-US" sz="3600">
                <a:latin typeface="Times New Roman" panose="02020603050405020304" pitchFamily="18" charset="0"/>
                <a:ea typeface="Amiko"/>
                <a:cs typeface="Times New Roman" panose="02020603050405020304" pitchFamily="18" charset="0"/>
                <a:sym typeface="Amiko"/>
              </a:rPr>
              <a:t>Database     : PostgreSQL (Supabase)</a:t>
            </a:r>
          </a:p>
          <a:p>
            <a:pPr algn="just">
              <a:lnSpc>
                <a:spcPct val="150000"/>
              </a:lnSpc>
            </a:pPr>
            <a:r>
              <a:rPr lang="en-US" sz="3600">
                <a:latin typeface="Times New Roman" panose="02020603050405020304" pitchFamily="18" charset="0"/>
                <a:ea typeface="Amiko"/>
                <a:cs typeface="Times New Roman" panose="02020603050405020304" pitchFamily="18" charset="0"/>
                <a:sym typeface="Amiko"/>
              </a:rPr>
              <a:t>Web Server : Django Development Server / Render (for deployment)</a:t>
            </a:r>
          </a:p>
          <a:p>
            <a:pPr algn="just">
              <a:lnSpc>
                <a:spcPct val="150000"/>
              </a:lnSpc>
            </a:pPr>
            <a:r>
              <a:rPr lang="en-US" sz="3600">
                <a:latin typeface="Times New Roman" panose="02020603050405020304" pitchFamily="18" charset="0"/>
                <a:ea typeface="Amiko"/>
                <a:cs typeface="Times New Roman" panose="02020603050405020304" pitchFamily="18" charset="0"/>
                <a:sym typeface="Amiko"/>
              </a:rPr>
              <a:t>API               : Fresh Chat API (for chatbot integration)</a:t>
            </a:r>
          </a:p>
          <a:p>
            <a:pPr algn="just">
              <a:lnSpc>
                <a:spcPct val="150000"/>
              </a:lnSpc>
            </a:pPr>
            <a:r>
              <a:rPr lang="en-US" sz="3600">
                <a:latin typeface="Times New Roman" panose="02020603050405020304" pitchFamily="18" charset="0"/>
                <a:ea typeface="Amiko"/>
                <a:cs typeface="Times New Roman" panose="02020603050405020304" pitchFamily="18" charset="0"/>
                <a:sym typeface="Amiko"/>
              </a:rPr>
              <a:t>Packages  : Sentence Transformers, Transformers (HuggingFace), Psycopg2, Django ORM, Pandas, NumPy</a:t>
            </a:r>
          </a:p>
          <a:p>
            <a:pPr algn="just">
              <a:lnSpc>
                <a:spcPct val="150000"/>
              </a:lnSpc>
            </a:pPr>
            <a:endParaRPr lang="en-US" sz="3600" dirty="0">
              <a:solidFill>
                <a:srgbClr val="03275A"/>
              </a:solidFill>
              <a:latin typeface="Amiko"/>
              <a:ea typeface="Amiko"/>
              <a:cs typeface="Amiko"/>
              <a:sym typeface="Amik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3FDA5A-E80C-B833-2ECB-4709A897C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0565AA7-8E26-8B80-8F95-F76E8F28096F}"/>
              </a:ext>
            </a:extLst>
          </p:cNvPr>
          <p:cNvSpPr/>
          <p:nvPr/>
        </p:nvSpPr>
        <p:spPr>
          <a:xfrm>
            <a:off x="9583365" y="6257806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853131D-C498-C799-47F1-5AE97D448D6D}"/>
              </a:ext>
            </a:extLst>
          </p:cNvPr>
          <p:cNvSpPr/>
          <p:nvPr/>
        </p:nvSpPr>
        <p:spPr>
          <a:xfrm flipH="1" flipV="1">
            <a:off x="-3265860" y="-1023938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87987AB8-508C-4C75-8E3B-838F3E0D8AC0}"/>
              </a:ext>
            </a:extLst>
          </p:cNvPr>
          <p:cNvSpPr/>
          <p:nvPr/>
        </p:nvSpPr>
        <p:spPr>
          <a:xfrm rot="-1749240">
            <a:off x="14107833" y="8613248"/>
            <a:ext cx="2252125" cy="1126062"/>
          </a:xfrm>
          <a:custGeom>
            <a:avLst/>
            <a:gdLst/>
            <a:ahLst/>
            <a:cxnLst/>
            <a:rect l="l" t="t" r="r" b="b"/>
            <a:pathLst>
              <a:path w="2252125" h="1126062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B4DBBC43-E10F-7A51-DF5C-593458FFC88D}"/>
              </a:ext>
            </a:extLst>
          </p:cNvPr>
          <p:cNvSpPr/>
          <p:nvPr/>
        </p:nvSpPr>
        <p:spPr>
          <a:xfrm rot="-1749240" flipV="1">
            <a:off x="1905275" y="650043"/>
            <a:ext cx="2128989" cy="1064495"/>
          </a:xfrm>
          <a:custGeom>
            <a:avLst/>
            <a:gdLst/>
            <a:ahLst/>
            <a:cxnLst/>
            <a:rect l="l" t="t" r="r" b="b"/>
            <a:pathLst>
              <a:path w="2128989" h="1064495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47678593-D5B9-969B-03E0-7DC90A81B55B}"/>
              </a:ext>
            </a:extLst>
          </p:cNvPr>
          <p:cNvSpPr/>
          <p:nvPr/>
        </p:nvSpPr>
        <p:spPr>
          <a:xfrm>
            <a:off x="16491586" y="8853488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88BDAEF7-E4DB-C3E6-7B9F-165A6B16E61F}"/>
              </a:ext>
            </a:extLst>
          </p:cNvPr>
          <p:cNvSpPr/>
          <p:nvPr/>
        </p:nvSpPr>
        <p:spPr>
          <a:xfrm>
            <a:off x="-869488" y="-983397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CEDD1F1-B613-76B3-2B9C-1A481A173AE4}"/>
              </a:ext>
            </a:extLst>
          </p:cNvPr>
          <p:cNvSpPr txBox="1"/>
          <p:nvPr/>
        </p:nvSpPr>
        <p:spPr>
          <a:xfrm>
            <a:off x="4230013" y="517029"/>
            <a:ext cx="13443863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292"/>
              </a:lnSpc>
            </a:pPr>
            <a:r>
              <a:rPr lang="en-US" sz="8000" b="1" dirty="0">
                <a:solidFill>
                  <a:srgbClr val="03275A"/>
                </a:solidFill>
                <a:latin typeface="Times New Roman" panose="02020603050405020304" pitchFamily="18" charset="0"/>
                <a:ea typeface="Nunito Sans Bold"/>
                <a:cs typeface="Times New Roman" panose="02020603050405020304" pitchFamily="18" charset="0"/>
                <a:sym typeface="Nunito Sans Bold"/>
              </a:rPr>
              <a:t>SYSTEM ARCHITECTURE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B977476-AEC1-32B5-9243-1DAB05B86D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4049" y="2142828"/>
            <a:ext cx="11156804" cy="7434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799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583365" y="6257806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3265860" y="-1023938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749240">
            <a:off x="14107833" y="8613248"/>
            <a:ext cx="2252125" cy="1126062"/>
          </a:xfrm>
          <a:custGeom>
            <a:avLst/>
            <a:gdLst/>
            <a:ahLst/>
            <a:cxnLst/>
            <a:rect l="l" t="t" r="r" b="b"/>
            <a:pathLst>
              <a:path w="2252125" h="1126062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749240" flipV="1">
            <a:off x="1905275" y="650043"/>
            <a:ext cx="2128989" cy="1064495"/>
          </a:xfrm>
          <a:custGeom>
            <a:avLst/>
            <a:gdLst/>
            <a:ahLst/>
            <a:cxnLst/>
            <a:rect l="l" t="t" r="r" b="b"/>
            <a:pathLst>
              <a:path w="2128989" h="1064495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491586" y="8853488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869488" y="-983397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181600" y="503891"/>
            <a:ext cx="10998524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92"/>
              </a:lnSpc>
            </a:pPr>
            <a:r>
              <a:rPr lang="en-US" sz="8000" b="1" dirty="0">
                <a:solidFill>
                  <a:srgbClr val="03275A"/>
                </a:solidFill>
                <a:latin typeface="Times New Roman" panose="02020603050405020304" pitchFamily="18" charset="0"/>
                <a:ea typeface="Nunito Sans Bold"/>
                <a:cs typeface="Times New Roman" panose="02020603050405020304" pitchFamily="18" charset="0"/>
                <a:sym typeface="Nunito Sans Bold"/>
              </a:rPr>
              <a:t>MODULES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710515" y="2534754"/>
            <a:ext cx="13745699" cy="5309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20"/>
              </a:lnSpc>
            </a:pPr>
            <a:r>
              <a:rPr lang="en-US" sz="4800" b="1" dirty="0">
                <a:solidFill>
                  <a:srgbClr val="03275A"/>
                </a:solidFill>
                <a:latin typeface="Times New Roman" panose="02020603050405020304" pitchFamily="18" charset="0"/>
                <a:ea typeface="Amiko"/>
                <a:cs typeface="Times New Roman" panose="02020603050405020304" pitchFamily="18" charset="0"/>
                <a:sym typeface="Amiko"/>
              </a:rPr>
              <a:t>LIST OF MODULES</a:t>
            </a:r>
          </a:p>
          <a:p>
            <a:pPr>
              <a:lnSpc>
                <a:spcPts val="4620"/>
              </a:lnSpc>
            </a:pPr>
            <a:endParaRPr lang="en-US" sz="4800" b="1" dirty="0">
              <a:solidFill>
                <a:srgbClr val="03275A"/>
              </a:solidFill>
              <a:ea typeface="Amiko"/>
              <a:cs typeface="Amiko"/>
              <a:sym typeface="Amiko"/>
            </a:endParaRPr>
          </a:p>
          <a:p>
            <a:pPr marL="571500" indent="-571500">
              <a:lnSpc>
                <a:spcPts val="4620"/>
              </a:lnSpc>
              <a:buFont typeface="Wingdings" panose="05000000000000000000" pitchFamily="2" charset="2"/>
              <a:buChar char="§"/>
            </a:pPr>
            <a:r>
              <a:rPr lang="en-US" sz="4800">
                <a:latin typeface="Times New Roman" panose="02020603050405020304" pitchFamily="18" charset="0"/>
                <a:ea typeface="Amiko"/>
                <a:cs typeface="Times New Roman" panose="02020603050405020304" pitchFamily="18" charset="0"/>
                <a:sym typeface="Amiko"/>
              </a:rPr>
              <a:t> User Interaction Module</a:t>
            </a:r>
          </a:p>
          <a:p>
            <a:pPr marL="571500" indent="-571500">
              <a:lnSpc>
                <a:spcPts val="4620"/>
              </a:lnSpc>
              <a:buFont typeface="Wingdings" panose="05000000000000000000" pitchFamily="2" charset="2"/>
              <a:buChar char="§"/>
            </a:pPr>
            <a:r>
              <a:rPr lang="en-US" sz="4800">
                <a:latin typeface="Times New Roman" panose="02020603050405020304" pitchFamily="18" charset="0"/>
                <a:ea typeface="Amiko"/>
                <a:cs typeface="Times New Roman" panose="02020603050405020304" pitchFamily="18" charset="0"/>
                <a:sym typeface="Amiko"/>
              </a:rPr>
              <a:t> Query Processing Module</a:t>
            </a:r>
          </a:p>
          <a:p>
            <a:pPr marL="571500" indent="-571500">
              <a:lnSpc>
                <a:spcPts val="4620"/>
              </a:lnSpc>
              <a:buFont typeface="Wingdings" panose="05000000000000000000" pitchFamily="2" charset="2"/>
              <a:buChar char="§"/>
            </a:pPr>
            <a:r>
              <a:rPr lang="en-US" sz="4800">
                <a:latin typeface="Times New Roman" panose="02020603050405020304" pitchFamily="18" charset="0"/>
                <a:ea typeface="Amiko"/>
                <a:cs typeface="Times New Roman" panose="02020603050405020304" pitchFamily="18" charset="0"/>
                <a:sym typeface="Amiko"/>
              </a:rPr>
              <a:t> Embedding Generation Module</a:t>
            </a:r>
          </a:p>
          <a:p>
            <a:pPr marL="571500" indent="-571500">
              <a:lnSpc>
                <a:spcPts val="4620"/>
              </a:lnSpc>
              <a:buFont typeface="Wingdings" panose="05000000000000000000" pitchFamily="2" charset="2"/>
              <a:buChar char="§"/>
            </a:pPr>
            <a:r>
              <a:rPr lang="en-US" sz="4800">
                <a:latin typeface="Times New Roman" panose="02020603050405020304" pitchFamily="18" charset="0"/>
                <a:ea typeface="Amiko"/>
                <a:cs typeface="Times New Roman" panose="02020603050405020304" pitchFamily="18" charset="0"/>
                <a:sym typeface="Amiko"/>
              </a:rPr>
              <a:t> Semantic Search Module</a:t>
            </a:r>
          </a:p>
          <a:p>
            <a:pPr marL="571500" indent="-571500">
              <a:lnSpc>
                <a:spcPts val="4620"/>
              </a:lnSpc>
              <a:buFont typeface="Wingdings" panose="05000000000000000000" pitchFamily="2" charset="2"/>
              <a:buChar char="§"/>
            </a:pPr>
            <a:r>
              <a:rPr lang="en-US" sz="4800">
                <a:latin typeface="Times New Roman" panose="02020603050405020304" pitchFamily="18" charset="0"/>
                <a:ea typeface="Amiko"/>
                <a:cs typeface="Times New Roman" panose="02020603050405020304" pitchFamily="18" charset="0"/>
                <a:sym typeface="Amiko"/>
              </a:rPr>
              <a:t> Recommendation Engine</a:t>
            </a:r>
          </a:p>
          <a:p>
            <a:pPr marL="571500" indent="-571500">
              <a:lnSpc>
                <a:spcPts val="4620"/>
              </a:lnSpc>
              <a:buFont typeface="Wingdings" panose="05000000000000000000" pitchFamily="2" charset="2"/>
              <a:buChar char="§"/>
            </a:pPr>
            <a:r>
              <a:rPr lang="en-US" sz="4800">
                <a:latin typeface="Times New Roman" panose="02020603050405020304" pitchFamily="18" charset="0"/>
                <a:ea typeface="Amiko"/>
                <a:cs typeface="Times New Roman" panose="02020603050405020304" pitchFamily="18" charset="0"/>
                <a:sym typeface="Amiko"/>
              </a:rPr>
              <a:t> LLM-Based Response Generation Module</a:t>
            </a:r>
          </a:p>
          <a:p>
            <a:pPr marL="571500" indent="-571500">
              <a:lnSpc>
                <a:spcPts val="4620"/>
              </a:lnSpc>
              <a:buFont typeface="Wingdings" panose="05000000000000000000" pitchFamily="2" charset="2"/>
              <a:buChar char="§"/>
            </a:pPr>
            <a:r>
              <a:rPr lang="en-US" sz="4800">
                <a:latin typeface="Times New Roman" panose="02020603050405020304" pitchFamily="18" charset="0"/>
                <a:ea typeface="Amiko"/>
                <a:cs typeface="Times New Roman" panose="02020603050405020304" pitchFamily="18" charset="0"/>
                <a:sym typeface="Amiko"/>
              </a:rPr>
              <a:t> Database Management Module</a:t>
            </a:r>
            <a:endParaRPr lang="en-US" sz="4800" dirty="0">
              <a:latin typeface="Times New Roman" panose="02020603050405020304" pitchFamily="18" charset="0"/>
              <a:ea typeface="Amiko"/>
              <a:cs typeface="Times New Roman" panose="02020603050405020304" pitchFamily="18" charset="0"/>
              <a:sym typeface="Amik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583365" y="6257806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3265860" y="-1023938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749240">
            <a:off x="14107833" y="8613248"/>
            <a:ext cx="2252125" cy="1126062"/>
          </a:xfrm>
          <a:custGeom>
            <a:avLst/>
            <a:gdLst/>
            <a:ahLst/>
            <a:cxnLst/>
            <a:rect l="l" t="t" r="r" b="b"/>
            <a:pathLst>
              <a:path w="2252125" h="1126062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749240" flipV="1">
            <a:off x="1905275" y="650043"/>
            <a:ext cx="2128989" cy="1064495"/>
          </a:xfrm>
          <a:custGeom>
            <a:avLst/>
            <a:gdLst/>
            <a:ahLst/>
            <a:cxnLst/>
            <a:rect l="l" t="t" r="r" b="b"/>
            <a:pathLst>
              <a:path w="2128989" h="1064495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491586" y="8853488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869488" y="-983397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B67E43-020C-D29C-9D80-3C033FE57DC4}"/>
              </a:ext>
            </a:extLst>
          </p:cNvPr>
          <p:cNvSpPr txBox="1"/>
          <p:nvPr/>
        </p:nvSpPr>
        <p:spPr>
          <a:xfrm>
            <a:off x="1321591" y="2308437"/>
            <a:ext cx="16128209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1. User Interaction Module</a:t>
            </a:r>
          </a:p>
          <a:p>
            <a: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provides the interface for users to interact with the system through a chatbot (Fresh Chat).</a:t>
            </a:r>
            <a:b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  <a:t>Users can enter natural language queries to search for products.</a:t>
            </a:r>
            <a:b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  <a:t>It captures user input and displays responses in a conversational format.</a:t>
            </a:r>
            <a:b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ensures a simple and user-friendly experience.</a:t>
            </a:r>
          </a:p>
          <a:p>
            <a:endParaRPr lang="en-IN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2. Query Processing Module</a:t>
            </a:r>
          </a:p>
          <a:p>
            <a: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receives and processes user queries from the chatbot interface.</a:t>
            </a:r>
            <a:b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  <a:t>It performs basic text cleaning and prepares the query for further processing.</a:t>
            </a:r>
          </a:p>
          <a:p>
            <a: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processed query is structured for embedding generation.</a:t>
            </a:r>
            <a:b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  <a:t>It acts as the bridge between user input and AI-based processing</a:t>
            </a:r>
            <a:r>
              <a:rPr lang="en-IN" sz="3600"/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D91C96-5198-CD59-0A8B-DD923ED41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92F87AE-C813-D721-0948-45D546185412}"/>
              </a:ext>
            </a:extLst>
          </p:cNvPr>
          <p:cNvSpPr/>
          <p:nvPr/>
        </p:nvSpPr>
        <p:spPr>
          <a:xfrm>
            <a:off x="9583365" y="6257806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91910B9-21B2-5D91-71FB-9FC37F150D49}"/>
              </a:ext>
            </a:extLst>
          </p:cNvPr>
          <p:cNvSpPr/>
          <p:nvPr/>
        </p:nvSpPr>
        <p:spPr>
          <a:xfrm flipH="1" flipV="1">
            <a:off x="-3265860" y="-1023938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7457BF6C-B021-6D64-2F07-1CCCB3BCE2E5}"/>
              </a:ext>
            </a:extLst>
          </p:cNvPr>
          <p:cNvSpPr/>
          <p:nvPr/>
        </p:nvSpPr>
        <p:spPr>
          <a:xfrm rot="-1749240">
            <a:off x="14107833" y="8613248"/>
            <a:ext cx="2252125" cy="1126062"/>
          </a:xfrm>
          <a:custGeom>
            <a:avLst/>
            <a:gdLst/>
            <a:ahLst/>
            <a:cxnLst/>
            <a:rect l="l" t="t" r="r" b="b"/>
            <a:pathLst>
              <a:path w="2252125" h="1126062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5D98163C-94E3-458E-066B-76C58B6EC776}"/>
              </a:ext>
            </a:extLst>
          </p:cNvPr>
          <p:cNvSpPr/>
          <p:nvPr/>
        </p:nvSpPr>
        <p:spPr>
          <a:xfrm rot="-1749240" flipV="1">
            <a:off x="1905275" y="650043"/>
            <a:ext cx="2128989" cy="1064495"/>
          </a:xfrm>
          <a:custGeom>
            <a:avLst/>
            <a:gdLst/>
            <a:ahLst/>
            <a:cxnLst/>
            <a:rect l="l" t="t" r="r" b="b"/>
            <a:pathLst>
              <a:path w="2128989" h="1064495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DDB59A10-41B6-6044-5913-369C80E480B3}"/>
              </a:ext>
            </a:extLst>
          </p:cNvPr>
          <p:cNvSpPr/>
          <p:nvPr/>
        </p:nvSpPr>
        <p:spPr>
          <a:xfrm>
            <a:off x="16491586" y="8853488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87629D3E-7A65-659D-361C-904B98A3F2CC}"/>
              </a:ext>
            </a:extLst>
          </p:cNvPr>
          <p:cNvSpPr/>
          <p:nvPr/>
        </p:nvSpPr>
        <p:spPr>
          <a:xfrm>
            <a:off x="-869488" y="-983397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57DEBE-88D6-E6B7-C27E-A4E0BCC9B8ED}"/>
              </a:ext>
            </a:extLst>
          </p:cNvPr>
          <p:cNvSpPr txBox="1"/>
          <p:nvPr/>
        </p:nvSpPr>
        <p:spPr>
          <a:xfrm>
            <a:off x="1796413" y="2176471"/>
            <a:ext cx="13992557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3. Embedding Generation Module</a:t>
            </a:r>
          </a:p>
          <a:p>
            <a: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converts textual data into numerical vector representations.</a:t>
            </a:r>
            <a:b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  <a:t>It uses a pre-trained Sentence Transformer model (all-MiniLM-L6-v2).</a:t>
            </a:r>
            <a:b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  <a:t>Both product data and user queries are transformed into embeddings.</a:t>
            </a:r>
            <a:b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  <a:t>These embeddings capture semantic meaning for accurate comparison.</a:t>
            </a:r>
          </a:p>
          <a:p>
            <a:pPr algn="just"/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4. Semantic Search Module</a:t>
            </a:r>
          </a:p>
          <a:p>
            <a: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performs similarity search using vector embeddings.</a:t>
            </a:r>
            <a:b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  <a:t>It compares user query embeddings with stored product embeddings.</a:t>
            </a:r>
            <a:b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  <a:t>Cosine similarity is used to find the most relevant products.</a:t>
            </a:r>
            <a:b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  <a:t>It retrieves top-K matching results from PostgreSQL (pgvector).</a:t>
            </a:r>
          </a:p>
          <a:p>
            <a:pPr algn="just"/>
            <a:endParaRPr lang="en-IN" sz="3600" dirty="0"/>
          </a:p>
          <a:p>
            <a:pPr algn="just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4093324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1859FB-BCFB-48E2-563F-6356A64EF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6E97A6C-4DB6-00DC-F8A6-40B883E51516}"/>
              </a:ext>
            </a:extLst>
          </p:cNvPr>
          <p:cNvSpPr/>
          <p:nvPr/>
        </p:nvSpPr>
        <p:spPr>
          <a:xfrm>
            <a:off x="9583365" y="6257806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13ECD4F-3561-CB78-20B4-406CBD3D6A40}"/>
              </a:ext>
            </a:extLst>
          </p:cNvPr>
          <p:cNvSpPr/>
          <p:nvPr/>
        </p:nvSpPr>
        <p:spPr>
          <a:xfrm flipH="1" flipV="1">
            <a:off x="-3265860" y="-1023938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61135C67-ED8F-7F26-4A54-C4B3BB5D592F}"/>
              </a:ext>
            </a:extLst>
          </p:cNvPr>
          <p:cNvSpPr/>
          <p:nvPr/>
        </p:nvSpPr>
        <p:spPr>
          <a:xfrm rot="-1749240">
            <a:off x="14107833" y="8613248"/>
            <a:ext cx="2252125" cy="1126062"/>
          </a:xfrm>
          <a:custGeom>
            <a:avLst/>
            <a:gdLst/>
            <a:ahLst/>
            <a:cxnLst/>
            <a:rect l="l" t="t" r="r" b="b"/>
            <a:pathLst>
              <a:path w="2252125" h="1126062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C84E4BF1-9887-D3D7-5FF9-391560CC0021}"/>
              </a:ext>
            </a:extLst>
          </p:cNvPr>
          <p:cNvSpPr/>
          <p:nvPr/>
        </p:nvSpPr>
        <p:spPr>
          <a:xfrm rot="-1749240" flipV="1">
            <a:off x="1905275" y="650043"/>
            <a:ext cx="2128989" cy="1064495"/>
          </a:xfrm>
          <a:custGeom>
            <a:avLst/>
            <a:gdLst/>
            <a:ahLst/>
            <a:cxnLst/>
            <a:rect l="l" t="t" r="r" b="b"/>
            <a:pathLst>
              <a:path w="2128989" h="1064495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806ADF73-676D-58BB-65D5-2C522688F824}"/>
              </a:ext>
            </a:extLst>
          </p:cNvPr>
          <p:cNvSpPr/>
          <p:nvPr/>
        </p:nvSpPr>
        <p:spPr>
          <a:xfrm>
            <a:off x="16491586" y="8853488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FF7643DB-A2E2-1C60-C719-6555E4EF519C}"/>
              </a:ext>
            </a:extLst>
          </p:cNvPr>
          <p:cNvSpPr/>
          <p:nvPr/>
        </p:nvSpPr>
        <p:spPr>
          <a:xfrm>
            <a:off x="-869488" y="-983397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0F5B1E-94DB-8613-EBB3-4F200B2F7FB4}"/>
              </a:ext>
            </a:extLst>
          </p:cNvPr>
          <p:cNvSpPr txBox="1"/>
          <p:nvPr/>
        </p:nvSpPr>
        <p:spPr>
          <a:xfrm>
            <a:off x="1357050" y="2361795"/>
            <a:ext cx="1548315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5. Recommendation Module</a:t>
            </a:r>
          </a:p>
          <a:p>
            <a: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refines the retrieved results to improve relevance.</a:t>
            </a:r>
            <a:b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  <a:t>It considers factors like similarity score, rating, and product details.</a:t>
            </a:r>
            <a:b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  <a:t>Products are ranked and filtered for better recommendation quality.</a:t>
            </a:r>
            <a:b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  <a:t>It ensures users receive meaningful and useful suggestions.</a:t>
            </a:r>
          </a:p>
          <a:p>
            <a:pPr algn="just">
              <a:buNone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6. Response Generation Module (LLM)</a:t>
            </a:r>
          </a:p>
          <a:p>
            <a: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generates human-like responses using an open-source LLM.</a:t>
            </a:r>
            <a:b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  <a:t>It takes relevant product data and user query as input.</a:t>
            </a:r>
            <a:b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  <a:t>The output is formatted into a conversational response.</a:t>
            </a:r>
            <a:b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  <a:t>This enhances user interaction and overall experience.</a:t>
            </a:r>
          </a:p>
        </p:txBody>
      </p:sp>
    </p:spTree>
    <p:extLst>
      <p:ext uri="{BB962C8B-B14F-4D97-AF65-F5344CB8AC3E}">
        <p14:creationId xmlns:p14="http://schemas.microsoft.com/office/powerpoint/2010/main" val="42010512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771089-EA84-5E89-6DF6-22FF42F2A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7EC49ED-F9E4-5AD3-4677-B87816FDC446}"/>
              </a:ext>
            </a:extLst>
          </p:cNvPr>
          <p:cNvSpPr/>
          <p:nvPr/>
        </p:nvSpPr>
        <p:spPr>
          <a:xfrm>
            <a:off x="9583365" y="6257806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817D492-3CBC-90F2-89BC-2EEF43EE99E1}"/>
              </a:ext>
            </a:extLst>
          </p:cNvPr>
          <p:cNvSpPr/>
          <p:nvPr/>
        </p:nvSpPr>
        <p:spPr>
          <a:xfrm flipH="1" flipV="1">
            <a:off x="-3265860" y="-1023938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F9CF8448-8FE9-84BA-3730-03E570A64EC8}"/>
              </a:ext>
            </a:extLst>
          </p:cNvPr>
          <p:cNvSpPr/>
          <p:nvPr/>
        </p:nvSpPr>
        <p:spPr>
          <a:xfrm rot="-1749240">
            <a:off x="14107833" y="8613248"/>
            <a:ext cx="2252125" cy="1126062"/>
          </a:xfrm>
          <a:custGeom>
            <a:avLst/>
            <a:gdLst/>
            <a:ahLst/>
            <a:cxnLst/>
            <a:rect l="l" t="t" r="r" b="b"/>
            <a:pathLst>
              <a:path w="2252125" h="1126062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80AC34A5-3BE1-59A8-D313-3461D9303524}"/>
              </a:ext>
            </a:extLst>
          </p:cNvPr>
          <p:cNvSpPr/>
          <p:nvPr/>
        </p:nvSpPr>
        <p:spPr>
          <a:xfrm rot="-1749240" flipV="1">
            <a:off x="1905275" y="650043"/>
            <a:ext cx="2128989" cy="1064495"/>
          </a:xfrm>
          <a:custGeom>
            <a:avLst/>
            <a:gdLst/>
            <a:ahLst/>
            <a:cxnLst/>
            <a:rect l="l" t="t" r="r" b="b"/>
            <a:pathLst>
              <a:path w="2128989" h="1064495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BEBD4723-10C5-51A3-B0EB-7B2F94E8AE2A}"/>
              </a:ext>
            </a:extLst>
          </p:cNvPr>
          <p:cNvSpPr/>
          <p:nvPr/>
        </p:nvSpPr>
        <p:spPr>
          <a:xfrm>
            <a:off x="16491586" y="8853488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27E925AE-A5B7-0BEF-C1BC-705F44754248}"/>
              </a:ext>
            </a:extLst>
          </p:cNvPr>
          <p:cNvSpPr/>
          <p:nvPr/>
        </p:nvSpPr>
        <p:spPr>
          <a:xfrm>
            <a:off x="-869488" y="-983397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BB4070-A560-7946-F7E8-4EC227FD5F54}"/>
              </a:ext>
            </a:extLst>
          </p:cNvPr>
          <p:cNvSpPr txBox="1"/>
          <p:nvPr/>
        </p:nvSpPr>
        <p:spPr>
          <a:xfrm>
            <a:off x="2533008" y="2822060"/>
            <a:ext cx="14100714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7. Database Management Module</a:t>
            </a:r>
          </a:p>
          <a:p>
            <a:r>
              <a:rPr lang="en-IN" sz="400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handles storage and retrieval of system data.</a:t>
            </a:r>
            <a:br>
              <a:rPr lang="en-IN" sz="4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>
                <a:latin typeface="Times New Roman" panose="02020603050405020304" pitchFamily="18" charset="0"/>
                <a:cs typeface="Times New Roman" panose="02020603050405020304" pitchFamily="18" charset="0"/>
              </a:rPr>
              <a:t>It uses PostgreSQL (Supabase) with pgvector for embedding storage.</a:t>
            </a:r>
            <a:br>
              <a:rPr lang="en-IN" sz="4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>
                <a:latin typeface="Times New Roman" panose="02020603050405020304" pitchFamily="18" charset="0"/>
                <a:cs typeface="Times New Roman" panose="02020603050405020304" pitchFamily="18" charset="0"/>
              </a:rPr>
              <a:t>It manages product details, customer data, and reviews.</a:t>
            </a:r>
            <a:br>
              <a:rPr lang="en-IN" sz="4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>
                <a:latin typeface="Times New Roman" panose="02020603050405020304" pitchFamily="18" charset="0"/>
                <a:cs typeface="Times New Roman" panose="02020603050405020304" pitchFamily="18" charset="0"/>
              </a:rPr>
              <a:t>Ensures efficient data access and supports semantic search operations.</a:t>
            </a:r>
          </a:p>
          <a:p>
            <a:pPr algn="just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9499898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E2E9B8-7509-080A-362B-8B65F59EC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E02DFE4-44CA-F88B-FA17-D5FCE6403A84}"/>
              </a:ext>
            </a:extLst>
          </p:cNvPr>
          <p:cNvSpPr/>
          <p:nvPr/>
        </p:nvSpPr>
        <p:spPr>
          <a:xfrm>
            <a:off x="9583365" y="6257806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F4C3049-B293-F787-8454-F957FA17D230}"/>
              </a:ext>
            </a:extLst>
          </p:cNvPr>
          <p:cNvSpPr/>
          <p:nvPr/>
        </p:nvSpPr>
        <p:spPr>
          <a:xfrm flipH="1" flipV="1">
            <a:off x="-3265860" y="-1023938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35E7530A-2576-7D43-07D3-76AFDBB56418}"/>
              </a:ext>
            </a:extLst>
          </p:cNvPr>
          <p:cNvSpPr/>
          <p:nvPr/>
        </p:nvSpPr>
        <p:spPr>
          <a:xfrm rot="-1749240">
            <a:off x="14107833" y="8613248"/>
            <a:ext cx="2252125" cy="1126062"/>
          </a:xfrm>
          <a:custGeom>
            <a:avLst/>
            <a:gdLst/>
            <a:ahLst/>
            <a:cxnLst/>
            <a:rect l="l" t="t" r="r" b="b"/>
            <a:pathLst>
              <a:path w="2252125" h="1126062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923682AB-B045-767A-9B7A-F4BFD072E991}"/>
              </a:ext>
            </a:extLst>
          </p:cNvPr>
          <p:cNvSpPr/>
          <p:nvPr/>
        </p:nvSpPr>
        <p:spPr>
          <a:xfrm rot="-1749240" flipV="1">
            <a:off x="1905275" y="650043"/>
            <a:ext cx="2128989" cy="1064495"/>
          </a:xfrm>
          <a:custGeom>
            <a:avLst/>
            <a:gdLst/>
            <a:ahLst/>
            <a:cxnLst/>
            <a:rect l="l" t="t" r="r" b="b"/>
            <a:pathLst>
              <a:path w="2128989" h="1064495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769F9AD3-DCF7-D016-7FC6-7FDF49314CCB}"/>
              </a:ext>
            </a:extLst>
          </p:cNvPr>
          <p:cNvSpPr/>
          <p:nvPr/>
        </p:nvSpPr>
        <p:spPr>
          <a:xfrm>
            <a:off x="16491586" y="8853488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0E4CADA0-348E-279A-5929-AD6C42DC5A5E}"/>
              </a:ext>
            </a:extLst>
          </p:cNvPr>
          <p:cNvSpPr/>
          <p:nvPr/>
        </p:nvSpPr>
        <p:spPr>
          <a:xfrm>
            <a:off x="-869488" y="-983397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E20B9A4C-B416-96BB-0694-974199A65250}"/>
              </a:ext>
            </a:extLst>
          </p:cNvPr>
          <p:cNvSpPr txBox="1"/>
          <p:nvPr/>
        </p:nvSpPr>
        <p:spPr>
          <a:xfrm>
            <a:off x="5181600" y="503891"/>
            <a:ext cx="10998524" cy="1201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92"/>
              </a:lnSpc>
            </a:pPr>
            <a:r>
              <a:rPr lang="en-US" sz="7000" b="1" dirty="0">
                <a:solidFill>
                  <a:srgbClr val="03275A"/>
                </a:solidFill>
                <a:latin typeface="Times New Roman" panose="02020603050405020304" pitchFamily="18" charset="0"/>
                <a:ea typeface="Nunito Sans Bold"/>
                <a:cs typeface="Times New Roman" panose="02020603050405020304" pitchFamily="18" charset="0"/>
                <a:sym typeface="Nunito Sans Bold"/>
              </a:rPr>
              <a:t>SAMPLE SCREENSHOTS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C4BB346-5658-05AA-84A8-B0382DBFB19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6079" y="3232754"/>
            <a:ext cx="6723436" cy="41560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5B91DD6-942B-EC03-4134-79B43E1228B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9736" y="3232753"/>
            <a:ext cx="6723436" cy="415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7141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57D72-9556-AD14-83A8-7B19F6EE9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006EE0D-E016-9A59-92C8-0B7821F17C77}"/>
              </a:ext>
            </a:extLst>
          </p:cNvPr>
          <p:cNvSpPr/>
          <p:nvPr/>
        </p:nvSpPr>
        <p:spPr>
          <a:xfrm>
            <a:off x="9583365" y="6257806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0A76CAC-98DB-62A9-73E5-C7BD1AD2EE8E}"/>
              </a:ext>
            </a:extLst>
          </p:cNvPr>
          <p:cNvSpPr/>
          <p:nvPr/>
        </p:nvSpPr>
        <p:spPr>
          <a:xfrm flipH="1" flipV="1">
            <a:off x="-3265860" y="-1023938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BF37C835-1B65-6D7A-3059-096622418E5E}"/>
              </a:ext>
            </a:extLst>
          </p:cNvPr>
          <p:cNvSpPr/>
          <p:nvPr/>
        </p:nvSpPr>
        <p:spPr>
          <a:xfrm rot="-1749240">
            <a:off x="14107833" y="8613248"/>
            <a:ext cx="2252125" cy="1126062"/>
          </a:xfrm>
          <a:custGeom>
            <a:avLst/>
            <a:gdLst/>
            <a:ahLst/>
            <a:cxnLst/>
            <a:rect l="l" t="t" r="r" b="b"/>
            <a:pathLst>
              <a:path w="2252125" h="1126062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15A183B3-756F-274A-82A5-85FC19C7E934}"/>
              </a:ext>
            </a:extLst>
          </p:cNvPr>
          <p:cNvSpPr/>
          <p:nvPr/>
        </p:nvSpPr>
        <p:spPr>
          <a:xfrm rot="-1749240" flipV="1">
            <a:off x="1905275" y="650043"/>
            <a:ext cx="2128989" cy="1064495"/>
          </a:xfrm>
          <a:custGeom>
            <a:avLst/>
            <a:gdLst/>
            <a:ahLst/>
            <a:cxnLst/>
            <a:rect l="l" t="t" r="r" b="b"/>
            <a:pathLst>
              <a:path w="2128989" h="1064495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B34B1EB3-8753-51FE-5D6E-6F958059D288}"/>
              </a:ext>
            </a:extLst>
          </p:cNvPr>
          <p:cNvSpPr/>
          <p:nvPr/>
        </p:nvSpPr>
        <p:spPr>
          <a:xfrm>
            <a:off x="16491586" y="8853488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EAB3C0F7-0906-3F67-3FF3-47DAE42CC78C}"/>
              </a:ext>
            </a:extLst>
          </p:cNvPr>
          <p:cNvSpPr/>
          <p:nvPr/>
        </p:nvSpPr>
        <p:spPr>
          <a:xfrm>
            <a:off x="-869488" y="-983397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9EAAC8-2825-91D2-FCFF-75CB2E9B05FE}"/>
              </a:ext>
            </a:extLst>
          </p:cNvPr>
          <p:cNvSpPr txBox="1"/>
          <p:nvPr/>
        </p:nvSpPr>
        <p:spPr>
          <a:xfrm>
            <a:off x="5181600" y="503891"/>
            <a:ext cx="10998524" cy="1201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92"/>
              </a:lnSpc>
            </a:pPr>
            <a:r>
              <a:rPr lang="en-US" sz="7000" b="1" dirty="0">
                <a:solidFill>
                  <a:srgbClr val="03275A"/>
                </a:solidFill>
                <a:latin typeface="Times New Roman" panose="02020603050405020304" pitchFamily="18" charset="0"/>
                <a:ea typeface="Nunito Sans Bold"/>
                <a:cs typeface="Times New Roman" panose="02020603050405020304" pitchFamily="18" charset="0"/>
                <a:sym typeface="Nunito Sans Bold"/>
              </a:rPr>
              <a:t>SAMPLE SCREENSHOTS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8DC2A6A-69F7-A2D8-CA05-2FCA724627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4682" y="2754298"/>
            <a:ext cx="4495800" cy="515526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A2344B6-5C01-3E21-44CA-5FCA1E9D1AC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2754298"/>
            <a:ext cx="4495799" cy="5155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7373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814DC3-8AAB-8886-2B9D-94DF3D2B0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28883BB-46F6-33A4-CBC0-F1A32F14D083}"/>
              </a:ext>
            </a:extLst>
          </p:cNvPr>
          <p:cNvSpPr/>
          <p:nvPr/>
        </p:nvSpPr>
        <p:spPr>
          <a:xfrm>
            <a:off x="9583365" y="6257806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9CCE1BA-9997-9F44-A30A-0429DD855615}"/>
              </a:ext>
            </a:extLst>
          </p:cNvPr>
          <p:cNvSpPr/>
          <p:nvPr/>
        </p:nvSpPr>
        <p:spPr>
          <a:xfrm flipH="1" flipV="1">
            <a:off x="-3265860" y="-1023938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04D78AFB-6E90-23FD-EF7E-486A220397AD}"/>
              </a:ext>
            </a:extLst>
          </p:cNvPr>
          <p:cNvSpPr/>
          <p:nvPr/>
        </p:nvSpPr>
        <p:spPr>
          <a:xfrm rot="-1749240">
            <a:off x="14107833" y="8613248"/>
            <a:ext cx="2252125" cy="1126062"/>
          </a:xfrm>
          <a:custGeom>
            <a:avLst/>
            <a:gdLst/>
            <a:ahLst/>
            <a:cxnLst/>
            <a:rect l="l" t="t" r="r" b="b"/>
            <a:pathLst>
              <a:path w="2252125" h="1126062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57B72488-289E-5A14-7500-9FE06218DC75}"/>
              </a:ext>
            </a:extLst>
          </p:cNvPr>
          <p:cNvSpPr/>
          <p:nvPr/>
        </p:nvSpPr>
        <p:spPr>
          <a:xfrm rot="-1749240" flipV="1">
            <a:off x="1905275" y="650043"/>
            <a:ext cx="2128989" cy="1064495"/>
          </a:xfrm>
          <a:custGeom>
            <a:avLst/>
            <a:gdLst/>
            <a:ahLst/>
            <a:cxnLst/>
            <a:rect l="l" t="t" r="r" b="b"/>
            <a:pathLst>
              <a:path w="2128989" h="1064495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77A1B7AF-EB0A-66DA-DEFD-1EBE6F061372}"/>
              </a:ext>
            </a:extLst>
          </p:cNvPr>
          <p:cNvSpPr/>
          <p:nvPr/>
        </p:nvSpPr>
        <p:spPr>
          <a:xfrm>
            <a:off x="16491586" y="8853488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A13CFE81-4FCB-E934-2D1A-43F818D91109}"/>
              </a:ext>
            </a:extLst>
          </p:cNvPr>
          <p:cNvSpPr/>
          <p:nvPr/>
        </p:nvSpPr>
        <p:spPr>
          <a:xfrm>
            <a:off x="-869488" y="-983397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114324-F7CA-08D1-2D1F-98CA0E6435D6}"/>
              </a:ext>
            </a:extLst>
          </p:cNvPr>
          <p:cNvSpPr txBox="1"/>
          <p:nvPr/>
        </p:nvSpPr>
        <p:spPr>
          <a:xfrm>
            <a:off x="5181600" y="503891"/>
            <a:ext cx="10998524" cy="1201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92"/>
              </a:lnSpc>
            </a:pPr>
            <a:r>
              <a:rPr lang="en-US" sz="7000" b="1" dirty="0">
                <a:solidFill>
                  <a:srgbClr val="03275A"/>
                </a:solidFill>
                <a:latin typeface="Times New Roman" panose="02020603050405020304" pitchFamily="18" charset="0"/>
                <a:ea typeface="Nunito Sans Bold"/>
                <a:cs typeface="Times New Roman" panose="02020603050405020304" pitchFamily="18" charset="0"/>
                <a:sym typeface="Nunito Sans Bold"/>
              </a:rPr>
              <a:t>SAMPLE SCREENSHOTS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05F6481-DB7F-ACB6-CB07-7CC9853803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8706" y="2552700"/>
            <a:ext cx="4968240" cy="558330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F214283-4178-9D6F-9886-E271C06F77B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600" y="2552700"/>
            <a:ext cx="5081023" cy="5714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5615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38522B-1181-5C35-FF0A-0DB191643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03422E8-18ED-4BE7-3157-22CCCDE22481}"/>
              </a:ext>
            </a:extLst>
          </p:cNvPr>
          <p:cNvSpPr/>
          <p:nvPr/>
        </p:nvSpPr>
        <p:spPr>
          <a:xfrm>
            <a:off x="9583365" y="6257806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2EC3DD3-0640-C02D-A18E-255CF959EC29}"/>
              </a:ext>
            </a:extLst>
          </p:cNvPr>
          <p:cNvSpPr/>
          <p:nvPr/>
        </p:nvSpPr>
        <p:spPr>
          <a:xfrm flipH="1" flipV="1">
            <a:off x="-3265860" y="-1023938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89BECFDB-1EB2-3562-0AB3-40843F9743D0}"/>
              </a:ext>
            </a:extLst>
          </p:cNvPr>
          <p:cNvSpPr/>
          <p:nvPr/>
        </p:nvSpPr>
        <p:spPr>
          <a:xfrm rot="-1749240">
            <a:off x="14107833" y="8613248"/>
            <a:ext cx="2252125" cy="1126062"/>
          </a:xfrm>
          <a:custGeom>
            <a:avLst/>
            <a:gdLst/>
            <a:ahLst/>
            <a:cxnLst/>
            <a:rect l="l" t="t" r="r" b="b"/>
            <a:pathLst>
              <a:path w="2252125" h="1126062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B7866941-77D7-BF0F-E76E-B04ADE77630D}"/>
              </a:ext>
            </a:extLst>
          </p:cNvPr>
          <p:cNvSpPr/>
          <p:nvPr/>
        </p:nvSpPr>
        <p:spPr>
          <a:xfrm rot="-1749240" flipV="1">
            <a:off x="1905275" y="650043"/>
            <a:ext cx="2128989" cy="1064495"/>
          </a:xfrm>
          <a:custGeom>
            <a:avLst/>
            <a:gdLst/>
            <a:ahLst/>
            <a:cxnLst/>
            <a:rect l="l" t="t" r="r" b="b"/>
            <a:pathLst>
              <a:path w="2128989" h="1064495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B6B5E113-DEDB-7EFC-9941-C32A6DB63E93}"/>
              </a:ext>
            </a:extLst>
          </p:cNvPr>
          <p:cNvSpPr/>
          <p:nvPr/>
        </p:nvSpPr>
        <p:spPr>
          <a:xfrm>
            <a:off x="16491586" y="8853488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CEF570F0-7B82-0681-5584-6A53E8EE3CC2}"/>
              </a:ext>
            </a:extLst>
          </p:cNvPr>
          <p:cNvSpPr/>
          <p:nvPr/>
        </p:nvSpPr>
        <p:spPr>
          <a:xfrm>
            <a:off x="-869488" y="-983397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1257DD-400B-7373-8BC0-529BF5F78D25}"/>
              </a:ext>
            </a:extLst>
          </p:cNvPr>
          <p:cNvSpPr txBox="1"/>
          <p:nvPr/>
        </p:nvSpPr>
        <p:spPr>
          <a:xfrm>
            <a:off x="5181600" y="503891"/>
            <a:ext cx="10998524" cy="1201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92"/>
              </a:lnSpc>
            </a:pPr>
            <a:r>
              <a:rPr lang="en-US" sz="7000" b="1" dirty="0">
                <a:solidFill>
                  <a:srgbClr val="03275A"/>
                </a:solidFill>
                <a:latin typeface="Times New Roman" panose="02020603050405020304" pitchFamily="18" charset="0"/>
                <a:ea typeface="Nunito Sans Bold"/>
                <a:cs typeface="Times New Roman" panose="02020603050405020304" pitchFamily="18" charset="0"/>
                <a:sym typeface="Nunito Sans Bold"/>
              </a:rPr>
              <a:t>SAMPLE SCREENSHOTS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859154C-991B-AE0E-BE43-2CC7A2E404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7462" y="2592003"/>
            <a:ext cx="5082514" cy="6269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8778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BCD2D5-5CB9-A0B6-D07C-D3C5F9FB0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36DE9C0-7919-C0C6-D445-DFFB146B3A8D}"/>
              </a:ext>
            </a:extLst>
          </p:cNvPr>
          <p:cNvSpPr/>
          <p:nvPr/>
        </p:nvSpPr>
        <p:spPr>
          <a:xfrm>
            <a:off x="9583365" y="6257806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6D8F157-762E-2944-172F-E1A236B0A099}"/>
              </a:ext>
            </a:extLst>
          </p:cNvPr>
          <p:cNvSpPr/>
          <p:nvPr/>
        </p:nvSpPr>
        <p:spPr>
          <a:xfrm flipH="1" flipV="1">
            <a:off x="-3265860" y="-1023938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9FF86FB4-9D11-86D8-F611-2A4B169BA569}"/>
              </a:ext>
            </a:extLst>
          </p:cNvPr>
          <p:cNvSpPr/>
          <p:nvPr/>
        </p:nvSpPr>
        <p:spPr>
          <a:xfrm rot="-1749240">
            <a:off x="14107833" y="8613248"/>
            <a:ext cx="2252125" cy="1126062"/>
          </a:xfrm>
          <a:custGeom>
            <a:avLst/>
            <a:gdLst/>
            <a:ahLst/>
            <a:cxnLst/>
            <a:rect l="l" t="t" r="r" b="b"/>
            <a:pathLst>
              <a:path w="2252125" h="1126062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42C12BC0-1C6A-FB37-92B7-EA40624A5F22}"/>
              </a:ext>
            </a:extLst>
          </p:cNvPr>
          <p:cNvSpPr/>
          <p:nvPr/>
        </p:nvSpPr>
        <p:spPr>
          <a:xfrm rot="-1749240" flipV="1">
            <a:off x="1905275" y="650043"/>
            <a:ext cx="2128989" cy="1064495"/>
          </a:xfrm>
          <a:custGeom>
            <a:avLst/>
            <a:gdLst/>
            <a:ahLst/>
            <a:cxnLst/>
            <a:rect l="l" t="t" r="r" b="b"/>
            <a:pathLst>
              <a:path w="2128989" h="1064495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545BB7D0-1A09-2758-97D2-747523537428}"/>
              </a:ext>
            </a:extLst>
          </p:cNvPr>
          <p:cNvSpPr/>
          <p:nvPr/>
        </p:nvSpPr>
        <p:spPr>
          <a:xfrm>
            <a:off x="16491586" y="8853488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6906519E-83EC-FF5C-4B68-FD75485F829F}"/>
              </a:ext>
            </a:extLst>
          </p:cNvPr>
          <p:cNvSpPr/>
          <p:nvPr/>
        </p:nvSpPr>
        <p:spPr>
          <a:xfrm>
            <a:off x="-869488" y="-983397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15217E63-E6A6-7055-D5EB-B8D09258CF2F}"/>
              </a:ext>
            </a:extLst>
          </p:cNvPr>
          <p:cNvSpPr txBox="1"/>
          <p:nvPr/>
        </p:nvSpPr>
        <p:spPr>
          <a:xfrm>
            <a:off x="5181600" y="503891"/>
            <a:ext cx="10998524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92"/>
              </a:lnSpc>
            </a:pPr>
            <a:r>
              <a:rPr lang="en-US" sz="8000" b="1" dirty="0">
                <a:solidFill>
                  <a:srgbClr val="03275A"/>
                </a:solidFill>
                <a:latin typeface="Times New Roman" panose="02020603050405020304" pitchFamily="18" charset="0"/>
                <a:ea typeface="Nunito Sans Bold"/>
                <a:cs typeface="Times New Roman" panose="02020603050405020304" pitchFamily="18" charset="0"/>
                <a:sym typeface="Nunito Sans Bold"/>
              </a:rPr>
              <a:t>CONCLUSION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19BE23-1D52-7A52-BFA3-48AD2E31128C}"/>
              </a:ext>
            </a:extLst>
          </p:cNvPr>
          <p:cNvSpPr txBox="1"/>
          <p:nvPr/>
        </p:nvSpPr>
        <p:spPr>
          <a:xfrm>
            <a:off x="1241122" y="2136041"/>
            <a:ext cx="14939002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e-commerce systems often fail to provide relevant results due to their reliance on keyword-based search. This project presented an AI-powered e-commerce chatbot that uses semantic search and conversational AI to improve product discovery and user interaction. A Sentence Transformer model is used to generate embeddings for products and user queries, enabling context-aware similarity search using PostgreSQL with pgvector.</a:t>
            </a:r>
          </a:p>
          <a:p>
            <a:endParaRPr lang="en-IN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effectively retrieves relevant products based on user intent and generates natural responses using an open-source LLM. Compared to traditional methods, the proposed system improves recommendation accuracy, response quality, and overall user experience. It provides a scalable and efficient solution for intelligent product recommendation in modern e-commerce platforms.</a:t>
            </a:r>
          </a:p>
        </p:txBody>
      </p:sp>
    </p:spTree>
    <p:extLst>
      <p:ext uri="{BB962C8B-B14F-4D97-AF65-F5344CB8AC3E}">
        <p14:creationId xmlns:p14="http://schemas.microsoft.com/office/powerpoint/2010/main" val="42118707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F94FB1-35D8-DA97-3E0A-6E79D6AD0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984188C-22DA-1C03-82E8-86C972D26B96}"/>
              </a:ext>
            </a:extLst>
          </p:cNvPr>
          <p:cNvSpPr/>
          <p:nvPr/>
        </p:nvSpPr>
        <p:spPr>
          <a:xfrm>
            <a:off x="9583365" y="6257806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A586695-16FD-94D2-CC62-55EDB8333727}"/>
              </a:ext>
            </a:extLst>
          </p:cNvPr>
          <p:cNvSpPr/>
          <p:nvPr/>
        </p:nvSpPr>
        <p:spPr>
          <a:xfrm flipH="1" flipV="1">
            <a:off x="-3265860" y="-1023938"/>
            <a:ext cx="9819060" cy="5405438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7BC1C515-F07D-BF05-D9FB-830CBB4CB7B2}"/>
              </a:ext>
            </a:extLst>
          </p:cNvPr>
          <p:cNvSpPr/>
          <p:nvPr/>
        </p:nvSpPr>
        <p:spPr>
          <a:xfrm rot="-1749240">
            <a:off x="14107833" y="8613248"/>
            <a:ext cx="2252125" cy="1126062"/>
          </a:xfrm>
          <a:custGeom>
            <a:avLst/>
            <a:gdLst/>
            <a:ahLst/>
            <a:cxnLst/>
            <a:rect l="l" t="t" r="r" b="b"/>
            <a:pathLst>
              <a:path w="2252125" h="1126062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C110C762-212B-5AFC-42A6-FF0A85231FFC}"/>
              </a:ext>
            </a:extLst>
          </p:cNvPr>
          <p:cNvSpPr/>
          <p:nvPr/>
        </p:nvSpPr>
        <p:spPr>
          <a:xfrm rot="-1749240" flipV="1">
            <a:off x="1921089" y="519218"/>
            <a:ext cx="2128989" cy="1064495"/>
          </a:xfrm>
          <a:custGeom>
            <a:avLst/>
            <a:gdLst/>
            <a:ahLst/>
            <a:cxnLst/>
            <a:rect l="l" t="t" r="r" b="b"/>
            <a:pathLst>
              <a:path w="2128989" h="1064495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18D3BA0E-5433-5563-1E56-2E5E0375462B}"/>
              </a:ext>
            </a:extLst>
          </p:cNvPr>
          <p:cNvSpPr/>
          <p:nvPr/>
        </p:nvSpPr>
        <p:spPr>
          <a:xfrm>
            <a:off x="16491586" y="8853488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DE15DABC-BE19-EF0A-A7B3-EDC3C937B31E}"/>
              </a:ext>
            </a:extLst>
          </p:cNvPr>
          <p:cNvSpPr/>
          <p:nvPr/>
        </p:nvSpPr>
        <p:spPr>
          <a:xfrm>
            <a:off x="-869488" y="-983397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F534E1C1-95C5-06E4-FE9E-8DECB8751701}"/>
              </a:ext>
            </a:extLst>
          </p:cNvPr>
          <p:cNvSpPr txBox="1"/>
          <p:nvPr/>
        </p:nvSpPr>
        <p:spPr>
          <a:xfrm>
            <a:off x="5029200" y="106168"/>
            <a:ext cx="10998524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92"/>
              </a:lnSpc>
            </a:pPr>
            <a:r>
              <a:rPr lang="en-US" sz="8000" b="1" dirty="0">
                <a:solidFill>
                  <a:srgbClr val="03275A"/>
                </a:solidFill>
                <a:latin typeface="Times New Roman" panose="02020603050405020304" pitchFamily="18" charset="0"/>
                <a:ea typeface="Nunito Sans Bold"/>
                <a:cs typeface="Times New Roman" panose="02020603050405020304" pitchFamily="18" charset="0"/>
                <a:sym typeface="Nunito Sans Bold"/>
              </a:rPr>
              <a:t>FUTURE SCOPE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1137AA-50FE-AC04-6699-2EC1968B6B7D}"/>
              </a:ext>
            </a:extLst>
          </p:cNvPr>
          <p:cNvSpPr txBox="1"/>
          <p:nvPr/>
        </p:nvSpPr>
        <p:spPr>
          <a:xfrm>
            <a:off x="681276" y="1856601"/>
            <a:ext cx="16992600" cy="8802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400" b="1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User Behavior Data</a:t>
            </a:r>
            <a:br>
              <a:rPr lang="en-IN" sz="34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400">
                <a:latin typeface="Times New Roman" panose="02020603050405020304" pitchFamily="18" charset="0"/>
                <a:cs typeface="Times New Roman" panose="02020603050405020304" pitchFamily="18" charset="0"/>
              </a:rPr>
              <a:t>Enhance the system by incorporating user browsing history and preferences to provide more personalized and adaptive product recommendations.</a:t>
            </a:r>
          </a:p>
          <a:p>
            <a:br>
              <a:rPr lang="en-IN" sz="34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400" b="1">
                <a:latin typeface="Times New Roman" panose="02020603050405020304" pitchFamily="18" charset="0"/>
                <a:cs typeface="Times New Roman" panose="02020603050405020304" pitchFamily="18" charset="0"/>
              </a:rPr>
              <a:t>Multi-Language Chatbot Support</a:t>
            </a:r>
            <a:br>
              <a:rPr lang="en-IN" sz="34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400">
                <a:latin typeface="Times New Roman" panose="02020603050405020304" pitchFamily="18" charset="0"/>
                <a:cs typeface="Times New Roman" panose="02020603050405020304" pitchFamily="18" charset="0"/>
              </a:rPr>
              <a:t>Extend the chatbot to support multiple languages, enabling wider accessibility and improved user interaction across diverse user groups.</a:t>
            </a:r>
          </a:p>
          <a:p>
            <a:endParaRPr lang="en-IN" sz="3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400" b="1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Development</a:t>
            </a:r>
            <a:br>
              <a:rPr lang="en-IN" sz="34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400">
                <a:latin typeface="Times New Roman" panose="02020603050405020304" pitchFamily="18" charset="0"/>
                <a:cs typeface="Times New Roman" panose="02020603050405020304" pitchFamily="18" charset="0"/>
              </a:rPr>
              <a:t>Develop a mobile application that allows users to interact with the chatbot, search products, and receive recommendations in real time.</a:t>
            </a:r>
          </a:p>
          <a:p>
            <a:br>
              <a:rPr lang="en-IN" sz="34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400" b="1">
                <a:latin typeface="Times New Roman" panose="02020603050405020304" pitchFamily="18" charset="0"/>
                <a:cs typeface="Times New Roman" panose="02020603050405020304" pitchFamily="18" charset="0"/>
              </a:rPr>
              <a:t>Fine-Tuned Domain-Specific LLM</a:t>
            </a:r>
            <a:br>
              <a:rPr lang="en-IN" sz="34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400">
                <a:latin typeface="Times New Roman" panose="02020603050405020304" pitchFamily="18" charset="0"/>
                <a:cs typeface="Times New Roman" panose="02020603050405020304" pitchFamily="18" charset="0"/>
              </a:rPr>
              <a:t>Improve response quality by fine-tuning the language model on</a:t>
            </a:r>
          </a:p>
          <a:p>
            <a:r>
              <a:rPr lang="en-IN" sz="3400">
                <a:latin typeface="Times New Roman" panose="02020603050405020304" pitchFamily="18" charset="0"/>
                <a:cs typeface="Times New Roman" panose="02020603050405020304" pitchFamily="18" charset="0"/>
              </a:rPr>
              <a:t> e-commerce-specific data for more accurate and context-aware conversation.</a:t>
            </a:r>
          </a:p>
          <a:p>
            <a:b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78335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FD2FAF-129E-1415-9485-33C7A8EA1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8E07FA0-4965-7132-6BD5-7B66FDA9F3B5}"/>
              </a:ext>
            </a:extLst>
          </p:cNvPr>
          <p:cNvSpPr/>
          <p:nvPr/>
        </p:nvSpPr>
        <p:spPr>
          <a:xfrm>
            <a:off x="9583365" y="6257806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F19E4A3-D819-B7D4-322C-4DD4E7A829EF}"/>
              </a:ext>
            </a:extLst>
          </p:cNvPr>
          <p:cNvSpPr/>
          <p:nvPr/>
        </p:nvSpPr>
        <p:spPr>
          <a:xfrm flipH="1" flipV="1">
            <a:off x="-3265860" y="-1023938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9770143A-100D-26C3-E2FD-AF0FC9D5F739}"/>
              </a:ext>
            </a:extLst>
          </p:cNvPr>
          <p:cNvSpPr/>
          <p:nvPr/>
        </p:nvSpPr>
        <p:spPr>
          <a:xfrm rot="-1749240">
            <a:off x="14107833" y="8613248"/>
            <a:ext cx="2252125" cy="1126062"/>
          </a:xfrm>
          <a:custGeom>
            <a:avLst/>
            <a:gdLst/>
            <a:ahLst/>
            <a:cxnLst/>
            <a:rect l="l" t="t" r="r" b="b"/>
            <a:pathLst>
              <a:path w="2252125" h="1126062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CB4127AA-A636-A641-5873-59FF700498DE}"/>
              </a:ext>
            </a:extLst>
          </p:cNvPr>
          <p:cNvSpPr/>
          <p:nvPr/>
        </p:nvSpPr>
        <p:spPr>
          <a:xfrm rot="-1749240" flipV="1">
            <a:off x="1905275" y="650043"/>
            <a:ext cx="2128989" cy="1064495"/>
          </a:xfrm>
          <a:custGeom>
            <a:avLst/>
            <a:gdLst/>
            <a:ahLst/>
            <a:cxnLst/>
            <a:rect l="l" t="t" r="r" b="b"/>
            <a:pathLst>
              <a:path w="2128989" h="1064495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ECA6B8D5-9CC6-D58F-C765-97E5A8C9E0B6}"/>
              </a:ext>
            </a:extLst>
          </p:cNvPr>
          <p:cNvSpPr/>
          <p:nvPr/>
        </p:nvSpPr>
        <p:spPr>
          <a:xfrm>
            <a:off x="16491586" y="8853488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899429BD-C016-AAD7-231A-286DA2AC0CAD}"/>
              </a:ext>
            </a:extLst>
          </p:cNvPr>
          <p:cNvSpPr/>
          <p:nvPr/>
        </p:nvSpPr>
        <p:spPr>
          <a:xfrm>
            <a:off x="-869488" y="-983397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2904D618-B690-8780-27E1-48243E9D0744}"/>
              </a:ext>
            </a:extLst>
          </p:cNvPr>
          <p:cNvSpPr txBox="1"/>
          <p:nvPr/>
        </p:nvSpPr>
        <p:spPr>
          <a:xfrm>
            <a:off x="5181600" y="503891"/>
            <a:ext cx="10998524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92"/>
              </a:lnSpc>
            </a:pPr>
            <a:r>
              <a:rPr lang="en-US" sz="8000" b="1" dirty="0">
                <a:solidFill>
                  <a:srgbClr val="03275A"/>
                </a:solidFill>
                <a:latin typeface="Times New Roman" panose="02020603050405020304" pitchFamily="18" charset="0"/>
                <a:ea typeface="Nunito Sans Bold"/>
                <a:cs typeface="Times New Roman" panose="02020603050405020304" pitchFamily="18" charset="0"/>
                <a:sym typeface="Nunito Sans Bold"/>
              </a:rPr>
              <a:t>REFERENCES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950382-C943-75F6-4E1D-8CCE497A3964}"/>
              </a:ext>
            </a:extLst>
          </p:cNvPr>
          <p:cNvSpPr txBox="1"/>
          <p:nvPr/>
        </p:nvSpPr>
        <p:spPr>
          <a:xfrm>
            <a:off x="1796413" y="2165688"/>
            <a:ext cx="14416215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Beyari, Hasan. "Artificial intelligence’s effect on customer loyalty in the context of electronic commerce." </a:t>
            </a:r>
            <a:r>
              <a:rPr lang="en-US" sz="3600" i="1">
                <a:latin typeface="Times New Roman" panose="02020603050405020304" pitchFamily="18" charset="0"/>
                <a:cs typeface="Times New Roman" panose="02020603050405020304" pitchFamily="18" charset="0"/>
              </a:rPr>
              <a:t>Journal of Umm Al-Qura University for Engineering and Architecture</a:t>
            </a: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 16, no. 3 (2025): 617-626.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Valencia-Arias, Alejandro, Hernán Uribe-Bedoya, Juan David González-Ruiz, Gustavo Sánchez Santos, Edgard Chapoñan Ramírez, and Ezequiel Martínez Rojas. "Artificial intelligence and recommender systems in e-commerce. Trends and research agenda." </a:t>
            </a:r>
            <a:r>
              <a:rPr lang="en-US" sz="3600" i="1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Systems with Applications</a:t>
            </a: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 24 (2024): 200435.</a:t>
            </a:r>
            <a:endParaRPr lang="en-IN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rabicPeriod"/>
            </a:pP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Chamapti, Santilata, Bijayini Moahanty, and Swadhin Kumar Barisa. "MLDSS: customer-centric retail recommendation via multi-layered decision support system." </a:t>
            </a:r>
            <a:r>
              <a:rPr lang="en-US" sz="3600" i="1"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 (2025).</a:t>
            </a:r>
            <a:endParaRPr lang="en-IN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/>
              <a:t> 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2567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29A513-8A92-2841-779B-618328BEC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BC9DD06-3613-ECDE-F9EE-D2E4A8A35D8C}"/>
              </a:ext>
            </a:extLst>
          </p:cNvPr>
          <p:cNvSpPr/>
          <p:nvPr/>
        </p:nvSpPr>
        <p:spPr>
          <a:xfrm>
            <a:off x="9583365" y="6257806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5D13C52-21BE-9AEA-C74C-45DB839D86EF}"/>
              </a:ext>
            </a:extLst>
          </p:cNvPr>
          <p:cNvSpPr/>
          <p:nvPr/>
        </p:nvSpPr>
        <p:spPr>
          <a:xfrm flipH="1" flipV="1">
            <a:off x="-3265860" y="-1023938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7B75BBF8-3490-8444-6C15-EA09CB7FEF6D}"/>
              </a:ext>
            </a:extLst>
          </p:cNvPr>
          <p:cNvSpPr/>
          <p:nvPr/>
        </p:nvSpPr>
        <p:spPr>
          <a:xfrm rot="-1749240">
            <a:off x="14107833" y="8613248"/>
            <a:ext cx="2252125" cy="1126062"/>
          </a:xfrm>
          <a:custGeom>
            <a:avLst/>
            <a:gdLst/>
            <a:ahLst/>
            <a:cxnLst/>
            <a:rect l="l" t="t" r="r" b="b"/>
            <a:pathLst>
              <a:path w="2252125" h="1126062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3E09AF68-40D2-E5D9-CE7E-502AC1C3D825}"/>
              </a:ext>
            </a:extLst>
          </p:cNvPr>
          <p:cNvSpPr/>
          <p:nvPr/>
        </p:nvSpPr>
        <p:spPr>
          <a:xfrm rot="-1749240" flipV="1">
            <a:off x="1905275" y="650043"/>
            <a:ext cx="2128989" cy="1064495"/>
          </a:xfrm>
          <a:custGeom>
            <a:avLst/>
            <a:gdLst/>
            <a:ahLst/>
            <a:cxnLst/>
            <a:rect l="l" t="t" r="r" b="b"/>
            <a:pathLst>
              <a:path w="2128989" h="1064495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065A9F88-9190-1F75-75C5-2CC02A7BF6D6}"/>
              </a:ext>
            </a:extLst>
          </p:cNvPr>
          <p:cNvSpPr/>
          <p:nvPr/>
        </p:nvSpPr>
        <p:spPr>
          <a:xfrm>
            <a:off x="16491586" y="8853488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FBED5C2A-794E-9C48-1CAC-9EBCBCE7C3C9}"/>
              </a:ext>
            </a:extLst>
          </p:cNvPr>
          <p:cNvSpPr/>
          <p:nvPr/>
        </p:nvSpPr>
        <p:spPr>
          <a:xfrm>
            <a:off x="-869488" y="-983397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9E234E88-9DFC-1409-9CBE-E4E5A0F1B4CA}"/>
              </a:ext>
            </a:extLst>
          </p:cNvPr>
          <p:cNvSpPr txBox="1"/>
          <p:nvPr/>
        </p:nvSpPr>
        <p:spPr>
          <a:xfrm>
            <a:off x="5181600" y="503891"/>
            <a:ext cx="10998524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92"/>
              </a:lnSpc>
            </a:pPr>
            <a:r>
              <a:rPr lang="en-US" sz="8000" b="1" dirty="0">
                <a:solidFill>
                  <a:srgbClr val="03275A"/>
                </a:solidFill>
                <a:latin typeface="Times New Roman" panose="02020603050405020304" pitchFamily="18" charset="0"/>
                <a:ea typeface="Nunito Sans Bold"/>
                <a:cs typeface="Times New Roman" panose="02020603050405020304" pitchFamily="18" charset="0"/>
                <a:sym typeface="Nunito Sans Bold"/>
              </a:rPr>
              <a:t>REFERENCES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810599-C570-1D47-A5BC-751F2F968BA0}"/>
              </a:ext>
            </a:extLst>
          </p:cNvPr>
          <p:cNvSpPr txBox="1"/>
          <p:nvPr/>
        </p:nvSpPr>
        <p:spPr>
          <a:xfrm>
            <a:off x="1733429" y="2661654"/>
            <a:ext cx="1441621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4.  WięCkowski, Jakub, Andrii Shekhovtsov, Bogdan Franczyk, Jarosław Watróbski, and Wojciech Sałabun. "Personalized decision support enhanced by multiple expected solution points in the characteristic objects method." </a:t>
            </a:r>
            <a:r>
              <a:rPr lang="en-US" sz="3600" i="1"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 13 (2024): 8355-8374. </a:t>
            </a:r>
            <a:endParaRPr lang="en-IN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5. Siddique, Nida, Amna Zafar, Beenish Ayesha Akram, Muhammad Waseem, Sajid Iqbal, Ahmad Al-Yahya, Muhammad Nabeel Asghar, and Abdullah Abdurrehman Alaulamie. "IMETA-GNN: Meta Learning based Cold Start Optimization for Recommendation System." </a:t>
            </a:r>
            <a:r>
              <a:rPr lang="en-US" sz="3600" i="1"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 (2025).</a:t>
            </a:r>
            <a:endParaRPr lang="en-IN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8412405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583365" y="6257806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0" y="0"/>
                </a:moveTo>
                <a:lnTo>
                  <a:pt x="10093406" y="0"/>
                </a:lnTo>
                <a:lnTo>
                  <a:pt x="10093406" y="6000988"/>
                </a:lnTo>
                <a:lnTo>
                  <a:pt x="0" y="60009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3265860" y="-1023938"/>
            <a:ext cx="10093406" cy="6000989"/>
          </a:xfrm>
          <a:custGeom>
            <a:avLst/>
            <a:gdLst/>
            <a:ahLst/>
            <a:cxnLst/>
            <a:rect l="l" t="t" r="r" b="b"/>
            <a:pathLst>
              <a:path w="10093406" h="6000989">
                <a:moveTo>
                  <a:pt x="10093406" y="6000989"/>
                </a:moveTo>
                <a:lnTo>
                  <a:pt x="0" y="6000989"/>
                </a:lnTo>
                <a:lnTo>
                  <a:pt x="0" y="0"/>
                </a:lnTo>
                <a:lnTo>
                  <a:pt x="10093406" y="0"/>
                </a:lnTo>
                <a:lnTo>
                  <a:pt x="10093406" y="600098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749240">
            <a:off x="14107833" y="8613248"/>
            <a:ext cx="2252125" cy="1126062"/>
          </a:xfrm>
          <a:custGeom>
            <a:avLst/>
            <a:gdLst/>
            <a:ahLst/>
            <a:cxnLst/>
            <a:rect l="l" t="t" r="r" b="b"/>
            <a:pathLst>
              <a:path w="2252125" h="1126062">
                <a:moveTo>
                  <a:pt x="0" y="0"/>
                </a:moveTo>
                <a:lnTo>
                  <a:pt x="2252124" y="0"/>
                </a:lnTo>
                <a:lnTo>
                  <a:pt x="2252124" y="1126062"/>
                </a:lnTo>
                <a:lnTo>
                  <a:pt x="0" y="11260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749240" flipV="1">
            <a:off x="1905275" y="650043"/>
            <a:ext cx="2128989" cy="1064495"/>
          </a:xfrm>
          <a:custGeom>
            <a:avLst/>
            <a:gdLst/>
            <a:ahLst/>
            <a:cxnLst/>
            <a:rect l="l" t="t" r="r" b="b"/>
            <a:pathLst>
              <a:path w="2128989" h="1064495">
                <a:moveTo>
                  <a:pt x="0" y="1064495"/>
                </a:moveTo>
                <a:lnTo>
                  <a:pt x="2128989" y="1064495"/>
                </a:lnTo>
                <a:lnTo>
                  <a:pt x="2128989" y="0"/>
                </a:lnTo>
                <a:lnTo>
                  <a:pt x="0" y="0"/>
                </a:lnTo>
                <a:lnTo>
                  <a:pt x="0" y="106449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491586" y="8853488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1"/>
                </a:lnTo>
                <a:lnTo>
                  <a:pt x="0" y="2364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869488" y="-983397"/>
            <a:ext cx="2364581" cy="2364581"/>
          </a:xfrm>
          <a:custGeom>
            <a:avLst/>
            <a:gdLst/>
            <a:ahLst/>
            <a:cxnLst/>
            <a:rect l="l" t="t" r="r" b="b"/>
            <a:pathLst>
              <a:path w="2364581" h="2364581">
                <a:moveTo>
                  <a:pt x="0" y="0"/>
                </a:moveTo>
                <a:lnTo>
                  <a:pt x="2364581" y="0"/>
                </a:lnTo>
                <a:lnTo>
                  <a:pt x="2364581" y="2364582"/>
                </a:lnTo>
                <a:lnTo>
                  <a:pt x="0" y="23645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319916" y="3325143"/>
            <a:ext cx="9656288" cy="39696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099"/>
              </a:lnSpc>
            </a:pPr>
            <a:r>
              <a:rPr lang="en-US" sz="15099" b="1" dirty="0">
                <a:solidFill>
                  <a:srgbClr val="03275A"/>
                </a:solidFill>
                <a:latin typeface="Times New Roman" panose="02020603050405020304" pitchFamily="18" charset="0"/>
                <a:ea typeface="Nunito Sans Bold"/>
                <a:cs typeface="Times New Roman" panose="02020603050405020304" pitchFamily="18" charset="0"/>
                <a:sym typeface="Nunito Sans Bold"/>
              </a:rPr>
              <a:t>THANK</a:t>
            </a:r>
          </a:p>
          <a:p>
            <a:pPr algn="ctr">
              <a:lnSpc>
                <a:spcPts val="15099"/>
              </a:lnSpc>
            </a:pPr>
            <a:r>
              <a:rPr lang="en-US" sz="15099" b="1" dirty="0">
                <a:solidFill>
                  <a:srgbClr val="03275A"/>
                </a:solidFill>
                <a:latin typeface="Times New Roman" panose="02020603050405020304" pitchFamily="18" charset="0"/>
                <a:ea typeface="Nunito Sans Bold"/>
                <a:cs typeface="Times New Roman" panose="02020603050405020304" pitchFamily="18" charset="0"/>
                <a:sym typeface="Nunito Sans Bold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444</TotalTime>
  <Words>1500</Words>
  <Application>Microsoft Office PowerPoint</Application>
  <PresentationFormat>Custom</PresentationFormat>
  <Paragraphs>129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Times New Roman</vt:lpstr>
      <vt:lpstr>Amiko</vt:lpstr>
      <vt:lpstr>Calibri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ronsia pathees</dc:creator>
  <cp:lastModifiedBy>Gayathri Baskar</cp:lastModifiedBy>
  <cp:revision>19</cp:revision>
  <dcterms:created xsi:type="dcterms:W3CDTF">2006-08-16T00:00:00Z</dcterms:created>
  <dcterms:modified xsi:type="dcterms:W3CDTF">2026-05-04T14:40:21Z</dcterms:modified>
  <dc:identifier>DAGonLRdRII</dc:identifier>
</cp:coreProperties>
</file>